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4" r:id="rId3"/>
    <p:sldId id="266" r:id="rId4"/>
    <p:sldId id="269" r:id="rId5"/>
    <p:sldId id="261" r:id="rId6"/>
    <p:sldId id="257" r:id="rId7"/>
    <p:sldId id="267" r:id="rId8"/>
    <p:sldId id="270" r:id="rId9"/>
    <p:sldId id="260" r:id="rId10"/>
    <p:sldId id="258" r:id="rId11"/>
    <p:sldId id="272" r:id="rId12"/>
    <p:sldId id="273" r:id="rId13"/>
    <p:sldId id="271" r:id="rId14"/>
    <p:sldId id="274" r:id="rId15"/>
    <p:sldId id="265" r:id="rId16"/>
    <p:sldId id="268" r:id="rId17"/>
    <p:sldId id="262" r:id="rId18"/>
    <p:sldId id="26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3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308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C89DA-2442-81CF-F7C8-30552B880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D1A89-1E81-07F2-7EF0-ACF0916AEA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F82F1F-77B5-42FB-C6A8-AA96AC4C4E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43123-3D96-DAAC-4330-3571637EC2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13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9333F-4DA6-8ACD-5B54-ADBBB6F79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BD726B-2C48-856B-4D31-629F0179B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3B72E-F17E-65E9-54D3-98DBF213F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2FF8B0-C715-E021-DC6A-F344B965EB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4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20BA1-DCCB-DB98-1EE0-5F714F78A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F1058A-6A5D-FC6E-6FAF-BB518917B4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9EFDF-16C8-9A4A-BC24-5112CFD871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7B84AC-7301-7886-8763-273EFA9802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6276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5DA05-2F6C-AD99-841C-879909CDC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3BA854-2C93-B431-8D99-F891116D97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6629DB-384F-E891-681A-3C9A254AFD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D8ECC-30E3-8CC0-9B43-1836AAFDB9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607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8DB19-2F6D-389C-A92A-966638B08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5EC2A0-E0DC-6E6D-548A-6D1B5087A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C8560-2792-3197-8664-7D542BB84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CF2F2A-15B7-2A97-BB72-7B071E6367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431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A8C3D-D7AC-CBA3-6CD7-10B662F97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85FF4B-8FE7-9CB2-7D63-DA5413FCF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1BA6E-0CCF-8717-D03A-60659DAC68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BCC291-30C4-9175-468D-50038A80A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000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56D40-924A-E218-2C12-4BA4CAC9A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94243B-B2DB-5727-AA77-CDF148D78E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700B5-F4EE-FEFA-6CF6-3450F38591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0F18C-0B2D-72B6-393D-BDBFDBDEC7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873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B8DC6-2037-73FD-31CF-1BC644FF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C6C60-16F1-7FE9-6B97-C291BD88A5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09404A-6C6F-9080-A489-A6C7E3C51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3727C-A7A7-7C45-94BF-1888164D0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5803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262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README.md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../README.m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.bin"/><Relationship Id="rId3" Type="http://schemas.openxmlformats.org/officeDocument/2006/relationships/image" Target="../media/image4.png"/><Relationship Id="rId7" Type="http://schemas.openxmlformats.org/officeDocument/2006/relationships/hyperlink" Target="../README.md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645920"/>
            <a:ext cx="137160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6459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高校人员信息管理系统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BEA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面向对象程序设计课程设计答辩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4206240"/>
            <a:ext cx="74836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姓名</a:t>
            </a:r>
            <a:r>
              <a:rPr lang="en-US" sz="1400" u="sng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：    </a:t>
            </a:r>
            <a:r>
              <a:rPr lang="zh-CN" altLang="en-US" sz="1400" u="sng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李鑫杰</a:t>
            </a:r>
            <a:r>
              <a:rPr lang="en-US" altLang="zh-CN" sz="1400" u="sng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</a:t>
            </a: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</a:t>
            </a:r>
            <a:r>
              <a:rPr lang="en-US" sz="1400" dirty="0" err="1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专业：计算机科学与技术</a:t>
            </a:r>
            <a:r>
              <a:rPr lang="zh-CN" alt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（创）</a:t>
            </a:r>
            <a:r>
              <a:rPr 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 日期：2026年7月14</a:t>
            </a:r>
            <a:r>
              <a:rPr lang="zh-CN" altLang="en-US" sz="1400" dirty="0">
                <a:solidFill>
                  <a:srgbClr val="94A3B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11480"/>
            <a:ext cx="41148" cy="41148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3" name="TextBox 2"/>
          <p:cNvSpPr txBox="1"/>
          <p:nvPr/>
        </p:nvSpPr>
        <p:spPr>
          <a:xfrm>
            <a:off x="685800" y="377190"/>
            <a:ext cx="3429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rPr sz="2400"/>
              <a:t>项目概述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774954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1A1A2E"/>
                </a:solidFill>
                <a:latin typeface="Microsoft YaHei"/>
              </a:defRPr>
            </a:pPr>
            <a:r>
              <a:rPr sz="1500" dirty="0" err="1"/>
              <a:t>高校人员信息管理系统</a:t>
            </a:r>
            <a:r>
              <a:rPr sz="1500" dirty="0"/>
              <a:t> — </a:t>
            </a:r>
            <a:r>
              <a:rPr sz="1500" dirty="0" err="1"/>
              <a:t>面向对象程序设计课程设计项目</a:t>
            </a:r>
            <a:endParaRPr sz="1500" dirty="0"/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2400300" cy="24003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891540" y="2160271"/>
            <a:ext cx="19888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A86FF"/>
                </a:solidFill>
                <a:latin typeface="Microsoft YaHei"/>
              </a:defRPr>
            </a:pPr>
            <a:r>
              <a:rPr sz="1200"/>
              <a:t>核心功能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" y="2503170"/>
            <a:ext cx="1988820" cy="1797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人员增删改查</a:t>
            </a:r>
            <a:r>
              <a:rPr sz="975" dirty="0"/>
              <a:t> — </a:t>
            </a:r>
            <a:r>
              <a:rPr sz="975" dirty="0" err="1"/>
              <a:t>支持按编号</a:t>
            </a:r>
            <a:r>
              <a:rPr sz="975" dirty="0"/>
              <a:t>/</a:t>
            </a:r>
            <a:r>
              <a:rPr sz="975" dirty="0" err="1"/>
              <a:t>姓名组合查询</a:t>
            </a:r>
            <a:endParaRPr lang="en-US" sz="975" dirty="0"/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数据统计</a:t>
            </a:r>
            <a:r>
              <a:rPr sz="975" dirty="0"/>
              <a:t> — </a:t>
            </a:r>
            <a:r>
              <a:rPr sz="975" dirty="0" err="1"/>
              <a:t>总人数、性别分布、类型分布</a:t>
            </a:r>
            <a:endParaRPr sz="975" dirty="0"/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JSON持久化</a:t>
            </a:r>
            <a:r>
              <a:rPr sz="975" dirty="0"/>
              <a:t> — </a:t>
            </a:r>
            <a:r>
              <a:rPr lang="zh-CN" altLang="en-US" sz="975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保存，读取数据和配置</a:t>
            </a:r>
            <a:endParaRPr sz="97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CSV导入导出</a:t>
            </a:r>
            <a:r>
              <a:rPr sz="975" dirty="0"/>
              <a:t> — </a:t>
            </a:r>
            <a:r>
              <a:rPr sz="975" dirty="0" err="1"/>
              <a:t>批量导入与数据导出</a:t>
            </a:r>
            <a:endParaRPr sz="975" dirty="0"/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双界面支持</a:t>
            </a:r>
            <a:r>
              <a:rPr sz="975" dirty="0"/>
              <a:t> — </a:t>
            </a:r>
            <a:r>
              <a:rPr sz="975" dirty="0" err="1"/>
              <a:t>CLI命令行</a:t>
            </a:r>
            <a:r>
              <a:rPr sz="975" dirty="0"/>
              <a:t> + </a:t>
            </a:r>
            <a:r>
              <a:rPr sz="975" dirty="0" err="1"/>
              <a:t>TUI图形界面</a:t>
            </a:r>
            <a:endParaRPr sz="975" dirty="0"/>
          </a:p>
        </p:txBody>
      </p:sp>
      <p:sp>
        <p:nvSpPr>
          <p:cNvPr id="8" name="Rounded Rectangle 7"/>
          <p:cNvSpPr/>
          <p:nvPr/>
        </p:nvSpPr>
        <p:spPr>
          <a:xfrm>
            <a:off x="3429000" y="2057400"/>
            <a:ext cx="2400300" cy="24003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3634740" y="2160271"/>
            <a:ext cx="19888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B4D8"/>
                </a:solidFill>
                <a:latin typeface="Microsoft YaHei"/>
              </a:defRPr>
            </a:pPr>
            <a:r>
              <a:rPr sz="1200"/>
              <a:t>技术栈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4740" y="2503170"/>
            <a:ext cx="1988820" cy="1552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语言：Python</a:t>
            </a:r>
            <a:r>
              <a:rPr sz="975" dirty="0"/>
              <a:t> 3.11</a:t>
            </a:r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TUI框架：</a:t>
            </a:r>
            <a:r>
              <a:rPr lang="en-US" sz="975" dirty="0" err="1"/>
              <a:t>Rich_</a:t>
            </a:r>
            <a:r>
              <a:rPr sz="975" dirty="0" err="1"/>
              <a:t>Textual（终端图形界面</a:t>
            </a:r>
            <a:r>
              <a:rPr sz="975" dirty="0"/>
              <a:t>）</a:t>
            </a:r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>
                <a:solidFill>
                  <a:srgbClr val="1A1A2E"/>
                </a:solidFill>
                <a:latin typeface="Microsoft YaHei"/>
              </a:rPr>
              <a:t>数据存储：J</a:t>
            </a:r>
            <a:r>
              <a:rPr sz="975" dirty="0" err="1"/>
              <a:t>SON文件</a:t>
            </a:r>
            <a:endParaRPr sz="975" dirty="0"/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设计模式：三层架</a:t>
            </a:r>
            <a:r>
              <a:rPr lang="zh-CN" altLang="en-US" sz="975" dirty="0"/>
              <a:t>构</a:t>
            </a:r>
            <a:endParaRPr lang="en-US" altLang="zh-CN" sz="975" dirty="0"/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lang="en-US" sz="1000" dirty="0">
                <a:solidFill>
                  <a:srgbClr val="1A1A2E"/>
                </a:solidFill>
                <a:latin typeface="Microsoft YaHei"/>
              </a:rPr>
              <a:t>     </a:t>
            </a:r>
            <a:r>
              <a:rPr sz="1000" dirty="0">
                <a:solidFill>
                  <a:srgbClr val="1A1A2E"/>
                </a:solidFill>
                <a:latin typeface="Microsoft YaHei"/>
              </a:rPr>
              <a:t>UI</a:t>
            </a:r>
            <a:r>
              <a:rPr lang="en-US" sz="1000" dirty="0">
                <a:solidFill>
                  <a:srgbClr val="1A1A2E"/>
                </a:solidFill>
                <a:latin typeface="Microsoft YaHei"/>
              </a:rPr>
              <a:t>-</a:t>
            </a:r>
            <a:r>
              <a:rPr sz="1000" dirty="0">
                <a:solidFill>
                  <a:srgbClr val="1A1A2E"/>
                </a:solidFill>
                <a:latin typeface="Microsoft YaHei"/>
              </a:rPr>
              <a:t>Service</a:t>
            </a:r>
            <a:r>
              <a:rPr lang="en-US" sz="1000" dirty="0">
                <a:solidFill>
                  <a:srgbClr val="1A1A2E"/>
                </a:solidFill>
                <a:latin typeface="Microsoft YaHei"/>
              </a:rPr>
              <a:t>-</a:t>
            </a:r>
            <a:r>
              <a:rPr sz="1000" dirty="0">
                <a:solidFill>
                  <a:srgbClr val="1A1A2E"/>
                </a:solidFill>
                <a:latin typeface="Microsoft YaHei"/>
              </a:rPr>
              <a:t>Model</a:t>
            </a:r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lang="en-US" altLang="zh-CN" sz="975" dirty="0"/>
              <a:t>OOP </a:t>
            </a:r>
            <a:r>
              <a:rPr sz="975" dirty="0" err="1"/>
              <a:t>面向对象</a:t>
            </a:r>
            <a:r>
              <a:rPr sz="975" dirty="0"/>
              <a:t>：</a:t>
            </a:r>
            <a:r>
              <a:rPr lang="zh-CN" altLang="en-US" sz="975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抽象，封装，继承，多态</a:t>
            </a:r>
            <a:endParaRPr sz="975" dirty="0">
              <a:solidFill>
                <a:srgbClr val="1A1A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72200" y="2057400"/>
            <a:ext cx="2400300" cy="240030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6377940" y="2160271"/>
            <a:ext cx="19888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53A"/>
                </a:solidFill>
                <a:latin typeface="Microsoft YaHei"/>
              </a:defRPr>
            </a:pPr>
            <a:r>
              <a:rPr sz="1200"/>
              <a:t>项目规模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7940" y="2503171"/>
            <a:ext cx="1988820" cy="12529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源代码文件：约20个</a:t>
            </a:r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代码行数：3000+行</a:t>
            </a:r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数据结构：5个Model类</a:t>
            </a:r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服务层：4个Service模块</a:t>
            </a:r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UI层：CLI</a:t>
            </a:r>
            <a:r>
              <a:rPr sz="975" dirty="0"/>
              <a:t> + TUI </a:t>
            </a:r>
            <a:r>
              <a:rPr sz="975" dirty="0" err="1"/>
              <a:t>双界面</a:t>
            </a:r>
            <a:endParaRPr lang="en-US" sz="1000" dirty="0">
              <a:solidFill>
                <a:srgbClr val="1A1A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lang="zh-CN" altLang="en-US" sz="1000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，为不同场景服务</a:t>
            </a:r>
            <a:endParaRPr sz="975" dirty="0">
              <a:solidFill>
                <a:srgbClr val="1A1A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FE91B875-62CE-B961-E891-D87C69BDD93A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0D8FC-03C7-6381-7BA2-7E9491CAC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F804E4A-2858-21DE-E95D-CD7812623AC8}"/>
              </a:ext>
            </a:extLst>
          </p:cNvPr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</a:t>
            </a:r>
            <a:r>
              <a:rPr lang="zh-CN" altLang="en-US" sz="2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3CDA7AD-F4F3-1E6E-5846-A6FC9355A5E9}"/>
              </a:ext>
            </a:extLst>
          </p:cNvPr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0">
            <a:extLst>
              <a:ext uri="{FF2B5EF4-FFF2-40B4-BE49-F238E27FC236}">
                <a16:creationId xmlns:a16="http://schemas.microsoft.com/office/drawing/2014/main" id="{D0185DEB-679D-FBF7-CAAF-880F422FEEEE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20" name="对象 19">
            <a:hlinkClick r:id="rId3" action="ppaction://hlinkfile"/>
            <a:extLst>
              <a:ext uri="{FF2B5EF4-FFF2-40B4-BE49-F238E27FC236}">
                <a16:creationId xmlns:a16="http://schemas.microsoft.com/office/drawing/2014/main" id="{73933F87-9F53-88C8-D3D1-3143145894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0215834"/>
              </p:ext>
            </p:extLst>
          </p:nvPr>
        </p:nvGraphicFramePr>
        <p:xfrm>
          <a:off x="8286750" y="1275046"/>
          <a:ext cx="8572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4" imgW="857146" imgH="514535" progId="Package">
                  <p:embed/>
                </p:oleObj>
              </mc:Choice>
              <mc:Fallback>
                <p:oleObj name="包装程序外壳对象" showAsIcon="1" r:id="rId4" imgW="857146" imgH="514535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86750" y="1275046"/>
                        <a:ext cx="8572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CC312D9-B034-DD70-DC82-CB3A0926FCE9}"/>
              </a:ext>
            </a:extLst>
          </p:cNvPr>
          <p:cNvPicPr>
            <a:picLocks/>
          </p:cNvPicPr>
          <p:nvPr/>
        </p:nvPicPr>
        <p:blipFill>
          <a:blip r:embed="rId6"/>
          <a:srcRect r="30424"/>
          <a:stretch>
            <a:fillRect/>
          </a:stretch>
        </p:blipFill>
        <p:spPr>
          <a:xfrm>
            <a:off x="3269582" y="1375510"/>
            <a:ext cx="4817929" cy="267071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2C950A1F-D8D1-8D5B-A762-5A809A9D0E75}"/>
              </a:ext>
            </a:extLst>
          </p:cNvPr>
          <p:cNvSpPr/>
          <p:nvPr/>
        </p:nvSpPr>
        <p:spPr>
          <a:xfrm>
            <a:off x="277691" y="1197621"/>
            <a:ext cx="2555507" cy="7100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</a:t>
            </a:r>
            <a:r>
              <a:rPr lang="en-US" sz="1800" b="1" dirty="0" err="1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简介</a:t>
            </a:r>
            <a:endParaRPr lang="en-US" sz="1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BF2A7B5-8719-FB5C-883D-46342E9A8556}"/>
              </a:ext>
            </a:extLst>
          </p:cNvPr>
          <p:cNvSpPr/>
          <p:nvPr/>
        </p:nvSpPr>
        <p:spPr>
          <a:xfrm>
            <a:off x="245923" y="1481086"/>
            <a:ext cx="2978540" cy="25651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面向高校人事管理场景，实现对四类人员的全生命周期信息管理</a:t>
            </a: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3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采用</a:t>
            </a:r>
            <a:r>
              <a:rPr lang="zh-CN" alt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经典</a:t>
            </a:r>
            <a:r>
              <a:rPr lang="en-US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三层架构设计</a:t>
            </a:r>
            <a:r>
              <a:rPr lang="zh-CN" alt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</a:t>
            </a:r>
            <a:r>
              <a:rPr lang="en-US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Models-Services-UI，提供</a:t>
            </a: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CLI 和 TUI 两套交互界面，数据通过 JSON </a:t>
            </a:r>
            <a:r>
              <a:rPr lang="en-US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文件持久化存储</a:t>
            </a:r>
            <a:r>
              <a:rPr lang="zh-CN" alt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，可通过</a:t>
            </a:r>
            <a:r>
              <a:rPr lang="en-US" altLang="zh-CN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csv</a:t>
            </a:r>
            <a:r>
              <a:rPr lang="zh-CN" alt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批量导入</a:t>
            </a:r>
            <a:r>
              <a:rPr lang="en-US" altLang="zh-CN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</a:t>
            </a:r>
            <a:r>
              <a:rPr lang="zh-CN" alt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</a:t>
            </a: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251451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998E9-30B0-0CD6-40F7-1A512551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42B6A5B5-A4E9-BA99-AD18-91590CB6636C}"/>
              </a:ext>
            </a:extLst>
          </p:cNvPr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</a:t>
            </a:r>
            <a:r>
              <a:rPr lang="zh-CN" altLang="en-US" sz="2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678B423-15F2-773B-DAD8-87E777DBABE0}"/>
              </a:ext>
            </a:extLst>
          </p:cNvPr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0">
            <a:extLst>
              <a:ext uri="{FF2B5EF4-FFF2-40B4-BE49-F238E27FC236}">
                <a16:creationId xmlns:a16="http://schemas.microsoft.com/office/drawing/2014/main" id="{5247339E-37B6-1A21-56B3-B23FE9E8C48C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graphicFrame>
        <p:nvGraphicFramePr>
          <p:cNvPr id="20" name="对象 19">
            <a:hlinkClick r:id="rId3" action="ppaction://hlinkfile"/>
            <a:extLst>
              <a:ext uri="{FF2B5EF4-FFF2-40B4-BE49-F238E27FC236}">
                <a16:creationId xmlns:a16="http://schemas.microsoft.com/office/drawing/2014/main" id="{DF5FE984-18F5-FB18-930D-AA76B0EA74B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86750" y="1275046"/>
          <a:ext cx="8572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4" imgW="857146" imgH="514535" progId="Package">
                  <p:embed/>
                </p:oleObj>
              </mc:Choice>
              <mc:Fallback>
                <p:oleObj name="包装程序外壳对象" showAsIcon="1" r:id="rId4" imgW="857146" imgH="514535" progId="Package">
                  <p:embed/>
                  <p:pic>
                    <p:nvPicPr>
                      <p:cNvPr id="20" name="对象 19">
                        <a:hlinkClick r:id="" action="ppaction://hlinkfile"/>
                        <a:extLst>
                          <a:ext uri="{FF2B5EF4-FFF2-40B4-BE49-F238E27FC236}">
                            <a16:creationId xmlns:a16="http://schemas.microsoft.com/office/drawing/2014/main" id="{73933F87-9F53-88C8-D3D1-3143145894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86750" y="1275046"/>
                        <a:ext cx="8572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 descr="表格&#10;&#10;AI 生成的内容可能不正确。">
            <a:extLst>
              <a:ext uri="{FF2B5EF4-FFF2-40B4-BE49-F238E27FC236}">
                <a16:creationId xmlns:a16="http://schemas.microsoft.com/office/drawing/2014/main" id="{7FE38C45-422E-D52E-DAB9-FFFA8A7CEF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4352" y="0"/>
            <a:ext cx="361229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70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系统功能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图片 9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45F23566-247D-3321-48B7-11113CA18BEB}"/>
              </a:ext>
            </a:extLst>
          </p:cNvPr>
          <p:cNvPicPr>
            <a:picLocks/>
          </p:cNvPicPr>
          <p:nvPr/>
        </p:nvPicPr>
        <p:blipFill>
          <a:blip r:embed="rId3"/>
          <a:srcRect l="8835" r="8933"/>
          <a:stretch>
            <a:fillRect/>
          </a:stretch>
        </p:blipFill>
        <p:spPr>
          <a:xfrm>
            <a:off x="534202" y="1002391"/>
            <a:ext cx="5370897" cy="3866789"/>
          </a:xfrm>
          <a:prstGeom prst="rect">
            <a:avLst/>
          </a:prstGeom>
        </p:spPr>
      </p:pic>
      <p:grpSp>
        <p:nvGrpSpPr>
          <p:cNvPr id="13" name="组合 12">
            <a:extLst>
              <a:ext uri="{FF2B5EF4-FFF2-40B4-BE49-F238E27FC236}">
                <a16:creationId xmlns:a16="http://schemas.microsoft.com/office/drawing/2014/main" id="{F32240AF-CF42-47D0-679D-CD8358A61109}"/>
              </a:ext>
            </a:extLst>
          </p:cNvPr>
          <p:cNvGrpSpPr/>
          <p:nvPr/>
        </p:nvGrpSpPr>
        <p:grpSpPr>
          <a:xfrm>
            <a:off x="5971407" y="0"/>
            <a:ext cx="1571051" cy="5288579"/>
            <a:chOff x="6514170" y="99708"/>
            <a:chExt cx="1315992" cy="4429982"/>
          </a:xfrm>
        </p:grpSpPr>
        <p:pic>
          <p:nvPicPr>
            <p:cNvPr id="9" name="图片 8" descr="屏幕上有字&#10;&#10;AI 生成的内容可能不正确。">
              <a:extLst>
                <a:ext uri="{FF2B5EF4-FFF2-40B4-BE49-F238E27FC236}">
                  <a16:creationId xmlns:a16="http://schemas.microsoft.com/office/drawing/2014/main" id="{DC4B573E-19E9-7156-A92F-6F8B6A7DB3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14171" y="99708"/>
              <a:ext cx="1315991" cy="2378110"/>
            </a:xfrm>
            <a:prstGeom prst="rect">
              <a:avLst/>
            </a:prstGeom>
          </p:spPr>
        </p:pic>
        <p:pic>
          <p:nvPicPr>
            <p:cNvPr id="12" name="图片 11" descr="图形用户界面, 应用程序&#10;&#10;AI 生成的内容可能不正确。">
              <a:extLst>
                <a:ext uri="{FF2B5EF4-FFF2-40B4-BE49-F238E27FC236}">
                  <a16:creationId xmlns:a16="http://schemas.microsoft.com/office/drawing/2014/main" id="{65DB9B37-1271-061B-E219-8ABB89DEB83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514170" y="2477818"/>
              <a:ext cx="1315991" cy="2051872"/>
            </a:xfrm>
            <a:prstGeom prst="rect">
              <a:avLst/>
            </a:prstGeom>
          </p:spPr>
        </p:pic>
      </p:grpSp>
      <p:pic>
        <p:nvPicPr>
          <p:cNvPr id="15" name="图片 14" descr="图形用户界面&#10;&#10;AI 生成的内容可能不正确。">
            <a:extLst>
              <a:ext uri="{FF2B5EF4-FFF2-40B4-BE49-F238E27FC236}">
                <a16:creationId xmlns:a16="http://schemas.microsoft.com/office/drawing/2014/main" id="{EFF98B42-E6F2-A901-5F2A-8CF69C7917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3615" y="152250"/>
            <a:ext cx="1501912" cy="523340"/>
          </a:xfrm>
          <a:prstGeom prst="rect">
            <a:avLst/>
          </a:prstGeom>
        </p:spPr>
      </p:pic>
      <p:graphicFrame>
        <p:nvGraphicFramePr>
          <p:cNvPr id="17" name="对象 16">
            <a:hlinkClick r:id="rId7" action="ppaction://hlinkfile"/>
            <a:extLst>
              <a:ext uri="{FF2B5EF4-FFF2-40B4-BE49-F238E27FC236}">
                <a16:creationId xmlns:a16="http://schemas.microsoft.com/office/drawing/2014/main" id="{85BCDD90-684D-8D0A-6F8B-BB3EB47A5A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86750" y="1275046"/>
          <a:ext cx="857250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8" imgW="857146" imgH="514535" progId="Package">
                  <p:embed/>
                </p:oleObj>
              </mc:Choice>
              <mc:Fallback>
                <p:oleObj name="包装程序外壳对象" showAsIcon="1" r:id="rId8" imgW="857146" imgH="514535" progId="Package">
                  <p:embed/>
                  <p:pic>
                    <p:nvPicPr>
                      <p:cNvPr id="20" name="对象 19">
                        <a:hlinkClick r:id="" action="ppaction://hlinkfile"/>
                        <a:extLst>
                          <a:ext uri="{FF2B5EF4-FFF2-40B4-BE49-F238E27FC236}">
                            <a16:creationId xmlns:a16="http://schemas.microsoft.com/office/drawing/2014/main" id="{DF5FE984-18F5-FB18-930D-AA76B0EA74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286750" y="1275046"/>
                        <a:ext cx="857250" cy="514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数据模型设计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28623" y="2420996"/>
            <a:ext cx="18288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65783" y="24941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  教师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65783" y="27867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系部、专业、职称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99924" y="2420996"/>
            <a:ext cx="18288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37084" y="24941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  实验员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937084" y="27867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所在实验室、职务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7322" y="2420996"/>
            <a:ext cx="18288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94482" y="249414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  行政人员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94482" y="278675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政治面貌、职称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28623" y="3728342"/>
            <a:ext cx="18288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65783" y="380149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  教师兼行政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65783" y="409410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系部、专业、职称、政治面貌</a:t>
            </a:r>
            <a:endParaRPr lang="en-US" sz="1100" dirty="0"/>
          </a:p>
        </p:txBody>
      </p:sp>
      <p:sp>
        <p:nvSpPr>
          <p:cNvPr id="34" name="Shape 6">
            <a:extLst>
              <a:ext uri="{FF2B5EF4-FFF2-40B4-BE49-F238E27FC236}">
                <a16:creationId xmlns:a16="http://schemas.microsoft.com/office/drawing/2014/main" id="{7B6985B3-34EC-5AE4-E86A-52874B34F6E2}"/>
              </a:ext>
            </a:extLst>
          </p:cNvPr>
          <p:cNvSpPr/>
          <p:nvPr/>
        </p:nvSpPr>
        <p:spPr>
          <a:xfrm>
            <a:off x="3828623" y="1304700"/>
            <a:ext cx="18288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89D923D6-89D7-DBFC-52A2-A394997FCF6E}"/>
              </a:ext>
            </a:extLst>
          </p:cNvPr>
          <p:cNvSpPr/>
          <p:nvPr/>
        </p:nvSpPr>
        <p:spPr>
          <a:xfrm>
            <a:off x="3965783" y="1361729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zh-CN" sz="1400" b="1" dirty="0" err="1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</a:rPr>
              <a:t>BassClass</a:t>
            </a:r>
            <a:r>
              <a:rPr lang="en-US" altLang="zh-CN" sz="14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</a:rPr>
              <a:t> </a:t>
            </a:r>
            <a:r>
              <a:rPr lang="zh-CN" altLang="en-US" sz="14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</a:rPr>
              <a:t>基类</a:t>
            </a:r>
            <a:endParaRPr lang="en-US" sz="1400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A622DB69-B007-D92C-1D4A-649043662D1A}"/>
              </a:ext>
            </a:extLst>
          </p:cNvPr>
          <p:cNvSpPr/>
          <p:nvPr/>
        </p:nvSpPr>
        <p:spPr>
          <a:xfrm>
            <a:off x="3965783" y="1654337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</a:rPr>
              <a:t>编号，姓名，性别，年龄</a:t>
            </a:r>
            <a:endParaRPr lang="en-US" sz="1100" dirty="0">
              <a:solidFill>
                <a:srgbClr val="64748B"/>
              </a:solidFill>
              <a:latin typeface="微软雅黑" pitchFamily="34" charset="0"/>
              <a:ea typeface="微软雅黑" pitchFamily="34" charset="-122"/>
            </a:endParaRPr>
          </a:p>
        </p:txBody>
      </p:sp>
      <p:cxnSp>
        <p:nvCxnSpPr>
          <p:cNvPr id="38" name="连接符: 曲线 37">
            <a:extLst>
              <a:ext uri="{FF2B5EF4-FFF2-40B4-BE49-F238E27FC236}">
                <a16:creationId xmlns:a16="http://schemas.microsoft.com/office/drawing/2014/main" id="{F45D9BA3-A903-10D1-2532-673DC4452A7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95978" y="1208359"/>
            <a:ext cx="492339" cy="2028699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曲线 38">
            <a:extLst>
              <a:ext uri="{FF2B5EF4-FFF2-40B4-BE49-F238E27FC236}">
                <a16:creationId xmlns:a16="http://schemas.microsoft.com/office/drawing/2014/main" id="{8B6408A1-CA81-D47A-8A17-719AB30F953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484066" y="2223340"/>
            <a:ext cx="492339" cy="12700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连接符: 曲线 41">
            <a:extLst>
              <a:ext uri="{FF2B5EF4-FFF2-40B4-BE49-F238E27FC236}">
                <a16:creationId xmlns:a16="http://schemas.microsoft.com/office/drawing/2014/main" id="{EA69227E-3834-8977-E28B-AF48EC68E759}"/>
              </a:ext>
            </a:extLst>
          </p:cNvPr>
          <p:cNvCxnSpPr>
            <a:cxnSpLocks/>
          </p:cNvCxnSpPr>
          <p:nvPr/>
        </p:nvCxnSpPr>
        <p:spPr>
          <a:xfrm rot="16200000" flipV="1">
            <a:off x="5883647" y="1202707"/>
            <a:ext cx="430496" cy="2028699"/>
          </a:xfrm>
          <a:prstGeom prst="curvedConnector3">
            <a:avLst>
              <a:gd name="adj1" fmla="val 50000"/>
            </a:avLst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连接符: 曲线 45">
            <a:extLst>
              <a:ext uri="{FF2B5EF4-FFF2-40B4-BE49-F238E27FC236}">
                <a16:creationId xmlns:a16="http://schemas.microsoft.com/office/drawing/2014/main" id="{C9D2CB80-939C-6C53-3030-247A28083433}"/>
              </a:ext>
            </a:extLst>
          </p:cNvPr>
          <p:cNvCxnSpPr>
            <a:stCxn id="17" idx="0"/>
            <a:endCxn id="8" idx="2"/>
          </p:cNvCxnSpPr>
          <p:nvPr/>
        </p:nvCxnSpPr>
        <p:spPr>
          <a:xfrm rot="5400000" flipH="1" flipV="1">
            <a:off x="4432250" y="3417569"/>
            <a:ext cx="621546" cy="12700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曲线 46">
            <a:extLst>
              <a:ext uri="{FF2B5EF4-FFF2-40B4-BE49-F238E27FC236}">
                <a16:creationId xmlns:a16="http://schemas.microsoft.com/office/drawing/2014/main" id="{F910B5BE-3D1C-E0E9-DDB8-A1AD47443E4F}"/>
              </a:ext>
            </a:extLst>
          </p:cNvPr>
          <p:cNvCxnSpPr>
            <a:cxnSpLocks/>
            <a:stCxn id="17" idx="0"/>
            <a:endCxn id="14" idx="2"/>
          </p:cNvCxnSpPr>
          <p:nvPr/>
        </p:nvCxnSpPr>
        <p:spPr>
          <a:xfrm rot="5400000" flipH="1" flipV="1">
            <a:off x="5446599" y="2403220"/>
            <a:ext cx="621546" cy="2028699"/>
          </a:xfrm>
          <a:prstGeom prst="curvedConnector3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05967734-7E36-23C2-E0DE-E9AAA3CBB8C4}"/>
              </a:ext>
            </a:extLst>
          </p:cNvPr>
          <p:cNvSpPr txBox="1"/>
          <p:nvPr/>
        </p:nvSpPr>
        <p:spPr>
          <a:xfrm>
            <a:off x="1756610" y="184592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单继承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70BC002D-360C-C59D-DD1C-4F1F8BB329E2}"/>
              </a:ext>
            </a:extLst>
          </p:cNvPr>
          <p:cNvSpPr txBox="1"/>
          <p:nvPr/>
        </p:nvSpPr>
        <p:spPr>
          <a:xfrm>
            <a:off x="1893524" y="340230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多继承</a:t>
            </a:r>
          </a:p>
        </p:txBody>
      </p:sp>
      <p:sp>
        <p:nvSpPr>
          <p:cNvPr id="52" name="Shape 0">
            <a:extLst>
              <a:ext uri="{FF2B5EF4-FFF2-40B4-BE49-F238E27FC236}">
                <a16:creationId xmlns:a16="http://schemas.microsoft.com/office/drawing/2014/main" id="{389FC178-D1E8-E0C7-3244-2B1E2E9D67BE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60F37-9506-E405-19FB-EA6149364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566C56F3-AE92-18BF-F144-B738F6CFC423}"/>
              </a:ext>
            </a:extLst>
          </p:cNvPr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类定义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F277899-9051-1126-72AB-3E10C92369B4}"/>
              </a:ext>
            </a:extLst>
          </p:cNvPr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0">
            <a:extLst>
              <a:ext uri="{FF2B5EF4-FFF2-40B4-BE49-F238E27FC236}">
                <a16:creationId xmlns:a16="http://schemas.microsoft.com/office/drawing/2014/main" id="{630DC5AA-D829-CE00-BE4A-1387A22D2E0B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3165B0A-3CC6-BC23-923F-A38C9BEBCC69}"/>
              </a:ext>
            </a:extLst>
          </p:cNvPr>
          <p:cNvSpPr txBox="1"/>
          <p:nvPr/>
        </p:nvSpPr>
        <p:spPr>
          <a:xfrm>
            <a:off x="1039528" y="1038428"/>
            <a:ext cx="7348889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class </a:t>
            </a:r>
            <a:r>
              <a:rPr lang="en-US" altLang="zh-CN" sz="1400" dirty="0" err="1"/>
              <a:t>BaseClass</a:t>
            </a:r>
            <a:r>
              <a:rPr lang="en-US" altLang="zh-CN" sz="1400" dirty="0"/>
              <a:t>:</a:t>
            </a:r>
          </a:p>
          <a:p>
            <a:pPr lvl="1"/>
            <a:r>
              <a:rPr lang="en-US" altLang="zh-CN" sz="1400" dirty="0"/>
              <a:t> """</a:t>
            </a:r>
          </a:p>
          <a:p>
            <a:pPr lvl="1"/>
            <a:r>
              <a:rPr lang="en-US" altLang="zh-CN" sz="1400" dirty="0"/>
              <a:t>  </a:t>
            </a:r>
            <a:r>
              <a:rPr lang="zh-CN" altLang="en-US" sz="1400" dirty="0"/>
              <a:t>人员信息基类</a:t>
            </a:r>
          </a:p>
          <a:p>
            <a:pPr lvl="1"/>
            <a:r>
              <a:rPr lang="zh-CN" altLang="en-US" sz="1400" dirty="0"/>
              <a:t> </a:t>
            </a:r>
            <a:r>
              <a:rPr lang="en-US" altLang="zh-CN" sz="1400" dirty="0"/>
              <a:t>"""</a:t>
            </a:r>
            <a:endParaRPr lang="zh-CN" altLang="en-US" sz="1400" dirty="0"/>
          </a:p>
          <a:p>
            <a:pPr lvl="1"/>
            <a:r>
              <a:rPr lang="zh-CN" altLang="en-US" sz="1400" dirty="0"/>
              <a:t> </a:t>
            </a:r>
            <a:r>
              <a:rPr lang="en-US" altLang="zh-CN" sz="1400" dirty="0"/>
              <a:t>def __</a:t>
            </a:r>
            <a:r>
              <a:rPr lang="en-US" altLang="zh-CN" sz="1400" dirty="0" err="1"/>
              <a:t>init</a:t>
            </a:r>
            <a:r>
              <a:rPr lang="en-US" altLang="zh-CN" sz="1400" dirty="0"/>
              <a:t>__(self, </a:t>
            </a:r>
            <a:r>
              <a:rPr lang="en-US" altLang="zh-CN" sz="1400" dirty="0" err="1"/>
              <a:t>person_id</a:t>
            </a:r>
            <a:r>
              <a:rPr lang="en-US" altLang="zh-CN" sz="1400" dirty="0"/>
              <a:t>: str, </a:t>
            </a:r>
            <a:r>
              <a:rPr lang="en-US" altLang="zh-CN" sz="1400" dirty="0" err="1"/>
              <a:t>person_name</a:t>
            </a:r>
            <a:r>
              <a:rPr lang="en-US" altLang="zh-CN" sz="1400" dirty="0"/>
              <a:t>: str, </a:t>
            </a:r>
            <a:r>
              <a:rPr lang="en-US" altLang="zh-CN" sz="1400" dirty="0" err="1"/>
              <a:t>person_gender</a:t>
            </a:r>
            <a:r>
              <a:rPr lang="en-US" altLang="zh-CN" sz="1400" dirty="0"/>
              <a:t>: str, </a:t>
            </a:r>
            <a:r>
              <a:rPr lang="en-US" altLang="zh-CN" sz="1400" dirty="0" err="1"/>
              <a:t>person_age</a:t>
            </a:r>
            <a:r>
              <a:rPr lang="en-US" altLang="zh-CN" sz="1400" dirty="0"/>
              <a:t>: str):</a:t>
            </a:r>
          </a:p>
          <a:p>
            <a:pPr lvl="1"/>
            <a:r>
              <a:rPr lang="en-US" altLang="zh-CN" sz="1400" dirty="0"/>
              <a:t>        ……</a:t>
            </a:r>
          </a:p>
          <a:p>
            <a:pPr lvl="1"/>
            <a:r>
              <a:rPr lang="en-US" altLang="zh-CN" sz="1400" dirty="0"/>
              <a:t>@classmethod</a:t>
            </a:r>
          </a:p>
          <a:p>
            <a:pPr lvl="1"/>
            <a:r>
              <a:rPr lang="en-US" altLang="zh-CN" sz="1400" dirty="0"/>
              <a:t> def </a:t>
            </a:r>
            <a:r>
              <a:rPr lang="en-US" altLang="zh-CN" sz="1400" dirty="0" err="1"/>
              <a:t>get_fields</a:t>
            </a:r>
            <a:r>
              <a:rPr lang="en-US" altLang="zh-CN" sz="1400" dirty="0"/>
              <a:t>(</a:t>
            </a:r>
            <a:r>
              <a:rPr lang="en-US" altLang="zh-CN" sz="1400" dirty="0" err="1"/>
              <a:t>cls</a:t>
            </a:r>
            <a:r>
              <a:rPr lang="en-US" altLang="zh-CN" sz="1400" dirty="0"/>
              <a:t>) -&gt; List[Tuple[str, str]]:</a:t>
            </a:r>
          </a:p>
          <a:p>
            <a:pPr lvl="1"/>
            <a:r>
              <a:rPr lang="en-US" altLang="zh-CN" sz="1400" dirty="0"/>
              <a:t>   </a:t>
            </a:r>
            <a:r>
              <a:rPr lang="zh-CN" altLang="en-US" sz="1400" dirty="0"/>
              <a:t>     </a:t>
            </a:r>
            <a:r>
              <a:rPr lang="en-US" altLang="zh-CN" sz="1400" dirty="0"/>
              <a:t>"""</a:t>
            </a:r>
            <a:r>
              <a:rPr lang="zh-CN" altLang="en-US" sz="1400" dirty="0"/>
              <a:t>返回子类特有字段列表，基类返回空列表（模板方法）</a:t>
            </a:r>
            <a:r>
              <a:rPr lang="en-US" altLang="zh-CN" sz="1400" dirty="0"/>
              <a:t>"""</a:t>
            </a:r>
          </a:p>
          <a:p>
            <a:pPr lvl="1"/>
            <a:r>
              <a:rPr lang="en-US" altLang="zh-CN" sz="1400" dirty="0"/>
              <a:t> def </a:t>
            </a:r>
            <a:r>
              <a:rPr lang="en-US" altLang="zh-CN" sz="1400" dirty="0" err="1"/>
              <a:t>get_display_fields</a:t>
            </a:r>
            <a:r>
              <a:rPr lang="en-US" altLang="zh-CN" sz="1400" dirty="0"/>
              <a:t>(self, brief: bool = False) -&gt; list:</a:t>
            </a:r>
          </a:p>
          <a:p>
            <a:pPr lvl="1"/>
            <a:r>
              <a:rPr lang="en-US" altLang="zh-CN" sz="1400" dirty="0"/>
              <a:t>        """</a:t>
            </a:r>
            <a:r>
              <a:rPr lang="zh-CN" altLang="en-US" sz="1400" dirty="0"/>
              <a:t>返回用于展示的特有字段值</a:t>
            </a:r>
            <a:r>
              <a:rPr lang="en-US" altLang="zh-CN" sz="1400" dirty="0"/>
              <a:t>"""</a:t>
            </a:r>
          </a:p>
          <a:p>
            <a:pPr lvl="1"/>
            <a:r>
              <a:rPr lang="en-US" altLang="zh-CN" sz="1400" dirty="0"/>
              <a:t>@classmethod</a:t>
            </a:r>
          </a:p>
          <a:p>
            <a:pPr lvl="1"/>
            <a:r>
              <a:rPr lang="en-US" altLang="zh-CN" sz="1400" dirty="0"/>
              <a:t>def </a:t>
            </a:r>
            <a:r>
              <a:rPr lang="en-US" altLang="zh-CN" sz="1400" dirty="0" err="1"/>
              <a:t>from_dict</a:t>
            </a:r>
            <a:r>
              <a:rPr lang="en-US" altLang="zh-CN" sz="1400" dirty="0"/>
              <a:t>(</a:t>
            </a:r>
            <a:r>
              <a:rPr lang="en-US" altLang="zh-CN" sz="1400" dirty="0" err="1"/>
              <a:t>cls</a:t>
            </a:r>
            <a:r>
              <a:rPr lang="en-US" altLang="zh-CN" sz="1400" dirty="0"/>
              <a:t>, d: </a:t>
            </a:r>
            <a:r>
              <a:rPr lang="en-US" altLang="zh-CN" sz="1400" dirty="0" err="1"/>
              <a:t>dict</a:t>
            </a:r>
            <a:r>
              <a:rPr lang="en-US" altLang="zh-CN" sz="1400" dirty="0"/>
              <a:t>) -&gt; '</a:t>
            </a:r>
            <a:r>
              <a:rPr lang="en-US" altLang="zh-CN" sz="1400" dirty="0" err="1"/>
              <a:t>BaseClass</a:t>
            </a:r>
            <a:r>
              <a:rPr lang="en-US" altLang="zh-CN" sz="1400" dirty="0"/>
              <a:t>’:</a:t>
            </a:r>
          </a:p>
          <a:p>
            <a:pPr lvl="1"/>
            <a:r>
              <a:rPr lang="en-US" altLang="zh-CN" sz="1400" dirty="0"/>
              <a:t>"""</a:t>
            </a:r>
            <a:r>
              <a:rPr lang="zh-CN" altLang="en-US" sz="1400" dirty="0"/>
              <a:t>从字典反序列化</a:t>
            </a:r>
            <a:r>
              <a:rPr lang="en-US" altLang="zh-CN" sz="1400" dirty="0"/>
              <a:t>"""</a:t>
            </a:r>
          </a:p>
          <a:p>
            <a:pPr lvl="1"/>
            <a:r>
              <a:rPr lang="en-US" altLang="zh-CN" sz="1400" dirty="0"/>
              <a:t>def </a:t>
            </a:r>
            <a:r>
              <a:rPr lang="en-US" altLang="zh-CN" sz="1400" dirty="0" err="1"/>
              <a:t>to_dict</a:t>
            </a:r>
            <a:r>
              <a:rPr lang="en-US" altLang="zh-CN" sz="1400" dirty="0"/>
              <a:t>(self) -&gt; </a:t>
            </a:r>
            <a:r>
              <a:rPr lang="en-US" altLang="zh-CN" sz="1400" dirty="0" err="1"/>
              <a:t>dict</a:t>
            </a:r>
            <a:r>
              <a:rPr lang="en-US" altLang="zh-CN" sz="1400" dirty="0"/>
              <a:t>:</a:t>
            </a:r>
          </a:p>
          <a:p>
            <a:pPr lvl="1"/>
            <a:r>
              <a:rPr lang="en-US" altLang="zh-CN" sz="1400" dirty="0"/>
              <a:t>"""</a:t>
            </a:r>
            <a:r>
              <a:rPr lang="zh-CN" altLang="en-US" sz="1400" dirty="0"/>
              <a:t>序列化为字典</a:t>
            </a:r>
            <a:r>
              <a:rPr lang="en-US" altLang="zh-CN" sz="1400" dirty="0"/>
              <a:t>"""</a:t>
            </a:r>
            <a:br>
              <a:rPr lang="en-US" altLang="zh-CN" sz="1400" dirty="0"/>
            </a:br>
            <a:endParaRPr lang="en-US" altLang="zh-CN" sz="1400" dirty="0"/>
          </a:p>
          <a:p>
            <a:endParaRPr lang="en-US" altLang="zh-CN" dirty="0"/>
          </a:p>
          <a:p>
            <a:r>
              <a:rPr lang="en-US" altLang="zh-CN" sz="1400" dirty="0"/>
              <a:t>  </a:t>
            </a:r>
          </a:p>
          <a:p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3129082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99FF2-049D-70FD-02BB-F604BD28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D2D9038-0EDB-D88E-B7F9-71A265BC47D8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0CF2D16-0872-5722-37A4-C7D687C88DBE}"/>
              </a:ext>
            </a:extLst>
          </p:cNvPr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技术亮点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14AE242E-A66B-BBB0-92D8-D4B07EE242F2}"/>
              </a:ext>
            </a:extLst>
          </p:cNvPr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EB7BEFEF-3CF3-BEC7-A115-EFF48AAEFC88}"/>
              </a:ext>
            </a:extLst>
          </p:cNvPr>
          <p:cNvGrpSpPr/>
          <p:nvPr/>
        </p:nvGrpSpPr>
        <p:grpSpPr>
          <a:xfrm>
            <a:off x="2766060" y="1435608"/>
            <a:ext cx="2880358" cy="3200400"/>
            <a:chOff x="3346704" y="1371600"/>
            <a:chExt cx="2880358" cy="3200400"/>
          </a:xfrm>
        </p:grpSpPr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CD940B2D-D46F-2C68-4132-03E089E64F87}"/>
                </a:ext>
              </a:extLst>
            </p:cNvPr>
            <p:cNvSpPr/>
            <p:nvPr/>
          </p:nvSpPr>
          <p:spPr>
            <a:xfrm>
              <a:off x="3346704" y="1371600"/>
              <a:ext cx="2697480" cy="3200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5B78C6B5-9E2D-F2C7-BBD4-4C57B0E99FBB}"/>
                </a:ext>
              </a:extLst>
            </p:cNvPr>
            <p:cNvSpPr/>
            <p:nvPr/>
          </p:nvSpPr>
          <p:spPr>
            <a:xfrm>
              <a:off x="3346704" y="1371600"/>
              <a:ext cx="54864" cy="3200400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/>
              </a:solidFill>
              <a:prstDash val="solid"/>
            </a:ln>
          </p:spPr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7BDBEAD4-4108-C2A4-48C8-9FB50E7E35F9}"/>
                </a:ext>
              </a:extLst>
            </p:cNvPr>
            <p:cNvSpPr/>
            <p:nvPr/>
          </p:nvSpPr>
          <p:spPr>
            <a:xfrm>
              <a:off x="3529583" y="1508760"/>
              <a:ext cx="2697479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JSON </a:t>
              </a:r>
              <a:r>
                <a:rPr lang="en-US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序列化</a:t>
              </a:r>
              <a:r>
                <a:rPr 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r>
                <a: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反序列化</a:t>
              </a:r>
              <a:endParaRPr 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58EC1595-AE02-FAD5-4DD0-98BD59C4E6F9}"/>
                </a:ext>
              </a:extLst>
            </p:cNvPr>
            <p:cNvSpPr/>
            <p:nvPr/>
          </p:nvSpPr>
          <p:spPr>
            <a:xfrm>
              <a:off x="3529584" y="1920240"/>
              <a:ext cx="2377440" cy="2560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600" dirty="0"/>
                <a:t>JSON </a:t>
              </a:r>
              <a:r>
                <a:rPr lang="en-US" sz="1600" dirty="0" err="1"/>
                <a:t>中用</a:t>
              </a:r>
              <a:r>
                <a:rPr lang="en-US" sz="1600" dirty="0"/>
                <a:t> __class__ </a:t>
              </a:r>
              <a:r>
                <a:rPr lang="en-US" sz="1600" dirty="0" err="1"/>
                <a:t>字段标记类型</a:t>
              </a:r>
              <a:endParaRPr lang="en-US" sz="160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600" dirty="0" err="1"/>
                <a:t>to_dict,from_dict</a:t>
              </a:r>
              <a:endParaRPr lang="en-US" sz="160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zh-CN" altLang="en-US" sz="1600" dirty="0"/>
                <a:t>通过</a:t>
              </a:r>
              <a:r>
                <a:rPr lang="en-US" sz="1600" dirty="0" err="1"/>
                <a:t>class_map</a:t>
              </a:r>
              <a:r>
                <a:rPr lang="en-US" sz="1600" dirty="0"/>
                <a:t> </a:t>
              </a:r>
              <a:r>
                <a:rPr lang="en-US" sz="1600" dirty="0" err="1"/>
                <a:t>还原对象</a:t>
              </a:r>
              <a:endParaRPr lang="en-US" sz="160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zh-CN" altLang="en-US" sz="1600" dirty="0"/>
                <a:t>增强可拓展性</a:t>
              </a:r>
              <a:endParaRPr lang="en-US" sz="1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1" name="图片 20" descr="文本&#10;&#10;AI 生成的内容可能不正确。">
            <a:extLst>
              <a:ext uri="{FF2B5EF4-FFF2-40B4-BE49-F238E27FC236}">
                <a16:creationId xmlns:a16="http://schemas.microsoft.com/office/drawing/2014/main" id="{C89B0452-0DBF-F493-688D-BBC01BF8C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665" y="274320"/>
            <a:ext cx="3009150" cy="3286530"/>
          </a:xfrm>
          <a:prstGeom prst="rect">
            <a:avLst/>
          </a:prstGeom>
        </p:spPr>
      </p:pic>
      <p:pic>
        <p:nvPicPr>
          <p:cNvPr id="23" name="图片 22" descr="文本&#10;&#10;AI 生成的内容可能不正确。">
            <a:extLst>
              <a:ext uri="{FF2B5EF4-FFF2-40B4-BE49-F238E27FC236}">
                <a16:creationId xmlns:a16="http://schemas.microsoft.com/office/drawing/2014/main" id="{21DDBDD5-6B7E-72DF-C1C7-43A988177A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" y="1405942"/>
            <a:ext cx="2616689" cy="102328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EE7084B-0A79-BC30-9E8E-41E7B06EA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" y="2799008"/>
            <a:ext cx="6084673" cy="258922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60D13AA7-70DB-67F4-2E38-0C186FE168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5" y="3148821"/>
            <a:ext cx="3368360" cy="30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496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技术亮点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273212B-C119-1401-BBE7-F67AC317C184}"/>
              </a:ext>
            </a:extLst>
          </p:cNvPr>
          <p:cNvGrpSpPr/>
          <p:nvPr/>
        </p:nvGrpSpPr>
        <p:grpSpPr>
          <a:xfrm>
            <a:off x="2766060" y="1435608"/>
            <a:ext cx="2697480" cy="3200400"/>
            <a:chOff x="3063240" y="1508760"/>
            <a:chExt cx="2697480" cy="3200400"/>
          </a:xfrm>
        </p:grpSpPr>
        <p:sp>
          <p:nvSpPr>
            <p:cNvPr id="6" name="Shape 4"/>
            <p:cNvSpPr/>
            <p:nvPr/>
          </p:nvSpPr>
          <p:spPr>
            <a:xfrm>
              <a:off x="3063240" y="1508760"/>
              <a:ext cx="2697480" cy="3200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3063240" y="1508760"/>
              <a:ext cx="54864" cy="3200400"/>
            </a:xfrm>
            <a:prstGeom prst="rect">
              <a:avLst/>
            </a:prstGeom>
            <a:solidFill>
              <a:srgbClr val="3B82F6"/>
            </a:solidFill>
            <a:ln w="12700">
              <a:solidFill>
                <a:srgbClr val="3B82F6"/>
              </a:solidFill>
              <a:prstDash val="solid"/>
            </a:ln>
          </p:spPr>
        </p:sp>
        <p:sp>
          <p:nvSpPr>
            <p:cNvPr id="8" name="Text 6"/>
            <p:cNvSpPr/>
            <p:nvPr/>
          </p:nvSpPr>
          <p:spPr>
            <a:xfrm>
              <a:off x="3246120" y="1645920"/>
              <a:ext cx="2423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CN" altLang="en-US" sz="1800" b="1" dirty="0">
                  <a:solidFill>
                    <a:srgbClr val="1E3A5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技术使用和创新</a:t>
              </a:r>
              <a:endParaRPr lang="en-US" sz="18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3246120" y="2057400"/>
              <a:ext cx="2377440" cy="2560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zh-CN" alt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进行</a:t>
              </a:r>
              <a:r>
                <a:rPr lang="en-US" altLang="zh-CN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TUI</a:t>
              </a:r>
              <a:r>
                <a:rPr lang="zh-CN" alt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界面创新，对使用者更友好</a:t>
              </a:r>
              <a:endPara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CLI 和 TUI </a:t>
              </a:r>
              <a:r>
                <a:rPr lang="en-US" sz="1300" dirty="0" err="1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共用同一个</a:t>
              </a:r>
              <a:r>
                <a:rPr 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 </a:t>
              </a:r>
              <a:r>
                <a:rPr lang="en-US" sz="1300" dirty="0" err="1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PersonService</a:t>
              </a:r>
              <a:endParaRPr lang="zh-CN" altLang="en-US" sz="130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300" dirty="0" err="1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数据格式完全一致</a:t>
              </a:r>
              <a:endPara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zh-CN" altLang="en-US" sz="1300" dirty="0">
                  <a:solidFill>
                    <a:srgbClr val="FF0000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在原要求基础上，加入前缀匹配筛选器模块，</a:t>
              </a:r>
              <a:r>
                <a:rPr lang="en-US" altLang="zh-CN" sz="1300" dirty="0">
                  <a:solidFill>
                    <a:srgbClr val="FF0000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csv</a:t>
              </a:r>
              <a:r>
                <a:rPr lang="zh-CN" altLang="en-US" sz="1300" dirty="0">
                  <a:solidFill>
                    <a:srgbClr val="FF0000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格式批量人员导出导入功能，自动保存选项</a:t>
              </a:r>
              <a:endParaRPr lang="en-US" altLang="zh-CN" sz="1300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面向对象四大特性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54864" cy="12801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抽象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BaseClass 提取公共属性：编号、姓名、性别、年龄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 4 个模板方法，子类只需覆写即可接入系统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325880"/>
            <a:ext cx="54864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630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封装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所有属性用 _ 前缀命名（约定为受保护）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外部通过 to_dict() / from_dict() 受控访问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内部结构变化不影响外部调用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114800" cy="15689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43200"/>
            <a:ext cx="45720" cy="156891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880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继承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0080" y="3378468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个单继承子类 + 1 个多重继承子类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子类自动获得 4 个公共属性和方法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TeacherAdmin 同时继承 Teacher 和 Admin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4114800" cy="156891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743200"/>
            <a:ext cx="54864" cy="156891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880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多态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37760" y="3354407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统一接口：get_fields / get_display_fields / to_dict / from_dict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PersonService 不判断类型，直接调用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每个子类返回不同内容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319CC-1DD4-AAD3-AD3D-9DBD05EF3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36D463-FCBA-E622-C463-D4A9BBC7540B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BBCAB1-F9BD-4D70-4235-6F1EAF23C76B}"/>
              </a:ext>
            </a:extLst>
          </p:cNvPr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技术亮点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6B1CC25-8478-0670-AEDA-4E8AEBC7F53D}"/>
              </a:ext>
            </a:extLst>
          </p:cNvPr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73F64628-E2B4-F969-C8A7-6BB331F74B5D}"/>
              </a:ext>
            </a:extLst>
          </p:cNvPr>
          <p:cNvGrpSpPr/>
          <p:nvPr/>
        </p:nvGrpSpPr>
        <p:grpSpPr>
          <a:xfrm>
            <a:off x="2766060" y="1435608"/>
            <a:ext cx="2697480" cy="3392904"/>
            <a:chOff x="3149909" y="1371600"/>
            <a:chExt cx="2697480" cy="3392904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57270F2B-680A-11CB-3C1F-E9873186D53D}"/>
                </a:ext>
              </a:extLst>
            </p:cNvPr>
            <p:cNvSpPr/>
            <p:nvPr/>
          </p:nvSpPr>
          <p:spPr>
            <a:xfrm>
              <a:off x="3149909" y="1371600"/>
              <a:ext cx="2697480" cy="3200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EB7E696F-D7AD-24F5-2534-62078D5D1054}"/>
                </a:ext>
              </a:extLst>
            </p:cNvPr>
            <p:cNvSpPr/>
            <p:nvPr/>
          </p:nvSpPr>
          <p:spPr>
            <a:xfrm>
              <a:off x="3149909" y="1371600"/>
              <a:ext cx="54864" cy="320040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 w="12700">
              <a:solidFill>
                <a:schemeClr val="tx1"/>
              </a:solidFill>
              <a:prstDash val="solid"/>
            </a:ln>
          </p:spPr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83D8F235-57B9-79C6-BD41-8DB3CFC5BDA6}"/>
                </a:ext>
              </a:extLst>
            </p:cNvPr>
            <p:cNvSpPr/>
            <p:nvPr/>
          </p:nvSpPr>
          <p:spPr>
            <a:xfrm>
              <a:off x="3332789" y="1508760"/>
              <a:ext cx="2423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CN" altLang="en-US" sz="1800" b="1" dirty="0">
                  <a:solidFill>
                    <a:srgbClr val="1E3A5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多态和模块化</a:t>
              </a:r>
              <a:endParaRPr lang="en-US" sz="18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0ADAF5D7-1374-F2E8-CB30-C6457C1554B0}"/>
                </a:ext>
              </a:extLst>
            </p:cNvPr>
            <p:cNvSpPr/>
            <p:nvPr/>
          </p:nvSpPr>
          <p:spPr>
            <a:xfrm>
              <a:off x="3332789" y="2204184"/>
              <a:ext cx="2377440" cy="2560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zh-CN" alt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高重复的代码抽象为模块，增强复用性和可读性</a:t>
              </a:r>
              <a:endParaRPr lang="en-US" altLang="zh-CN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altLang="zh-CN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UI </a:t>
              </a:r>
              <a:r>
                <a:rPr lang="zh-CN" alt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层不需要写 </a:t>
              </a:r>
              <a:r>
                <a:rPr lang="en-US" altLang="zh-CN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if </a:t>
              </a:r>
              <a:r>
                <a:rPr lang="zh-CN" alt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类型 </a:t>
              </a:r>
              <a:r>
                <a:rPr lang="en-US" altLang="zh-CN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== </a:t>
              </a:r>
              <a:r>
                <a:rPr lang="zh-CN" alt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教师 </a:t>
              </a:r>
              <a:r>
                <a:rPr lang="en-US" altLang="zh-CN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,</a:t>
              </a:r>
              <a:r>
                <a:rPr lang="zh-CN" alt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直接调用方法</a:t>
              </a:r>
              <a:r>
                <a:rPr lang="en-US" altLang="zh-CN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,</a:t>
              </a:r>
              <a:r>
                <a:rPr lang="zh-CN" alt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子类返回自己字段</a:t>
              </a:r>
              <a:endParaRPr lang="en-US" altLang="zh-CN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zh-CN" alt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在</a:t>
              </a:r>
              <a:r>
                <a:rPr lang="en-US" altLang="zh-CN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TUI</a:t>
              </a:r>
              <a:r>
                <a:rPr lang="zh-CN" alt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开发中省去约</a:t>
              </a:r>
              <a:r>
                <a:rPr lang="en-US" altLang="zh-CN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50%</a:t>
              </a:r>
              <a:r>
                <a:rPr lang="zh-CN" alt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的工作</a:t>
              </a:r>
              <a:endParaRPr lang="en-US" altLang="zh-CN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endParaRPr lang="en-US" altLang="zh-CN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endParaRPr lang="en-US" altLang="zh-CN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endParaRPr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endParaRPr lang="en-US" sz="130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endParaRPr 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880483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103ED-5910-28D8-675B-5379A4E44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8AD5F301-AFA8-60C0-ED48-502DC85A07E3}"/>
              </a:ext>
            </a:extLst>
          </p:cNvPr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类定义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07BF2FC-350D-CD0D-63F3-DCC3BCE8C9BC}"/>
              </a:ext>
            </a:extLst>
          </p:cNvPr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0">
            <a:extLst>
              <a:ext uri="{FF2B5EF4-FFF2-40B4-BE49-F238E27FC236}">
                <a16:creationId xmlns:a16="http://schemas.microsoft.com/office/drawing/2014/main" id="{546C9575-C9B4-6AA2-154C-F94327DF3056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7D32FE-4E84-4186-93C9-8E38E8A66B6B}"/>
              </a:ext>
            </a:extLst>
          </p:cNvPr>
          <p:cNvSpPr txBox="1"/>
          <p:nvPr/>
        </p:nvSpPr>
        <p:spPr>
          <a:xfrm>
            <a:off x="1039528" y="1038428"/>
            <a:ext cx="7348889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class </a:t>
            </a:r>
            <a:r>
              <a:rPr lang="en-US" altLang="zh-CN" sz="1400" dirty="0" err="1"/>
              <a:t>BaseClass</a:t>
            </a:r>
            <a:r>
              <a:rPr lang="en-US" altLang="zh-CN" sz="1400" dirty="0"/>
              <a:t>:</a:t>
            </a:r>
          </a:p>
          <a:p>
            <a:pPr lvl="1"/>
            <a:r>
              <a:rPr lang="en-US" altLang="zh-CN" sz="1400" dirty="0"/>
              <a:t> """</a:t>
            </a:r>
          </a:p>
          <a:p>
            <a:pPr lvl="1"/>
            <a:r>
              <a:rPr lang="en-US" altLang="zh-CN" sz="1400" dirty="0"/>
              <a:t>  </a:t>
            </a:r>
            <a:r>
              <a:rPr lang="zh-CN" altLang="en-US" sz="1400" dirty="0"/>
              <a:t>人员信息基类</a:t>
            </a:r>
          </a:p>
          <a:p>
            <a:pPr lvl="1"/>
            <a:r>
              <a:rPr lang="zh-CN" altLang="en-US" sz="1400" dirty="0"/>
              <a:t> </a:t>
            </a:r>
            <a:r>
              <a:rPr lang="en-US" altLang="zh-CN" sz="1400" dirty="0"/>
              <a:t>"""</a:t>
            </a:r>
            <a:endParaRPr lang="zh-CN" altLang="en-US" sz="1400" dirty="0"/>
          </a:p>
          <a:p>
            <a:pPr lvl="1"/>
            <a:r>
              <a:rPr lang="zh-CN" altLang="en-US" sz="1400" dirty="0"/>
              <a:t> </a:t>
            </a:r>
            <a:r>
              <a:rPr lang="en-US" altLang="zh-CN" sz="1400" dirty="0"/>
              <a:t>def __</a:t>
            </a:r>
            <a:r>
              <a:rPr lang="en-US" altLang="zh-CN" sz="1400" dirty="0" err="1"/>
              <a:t>init</a:t>
            </a:r>
            <a:r>
              <a:rPr lang="en-US" altLang="zh-CN" sz="1400" dirty="0"/>
              <a:t>__(self, </a:t>
            </a:r>
            <a:r>
              <a:rPr lang="en-US" altLang="zh-CN" sz="1400" dirty="0" err="1"/>
              <a:t>person_id</a:t>
            </a:r>
            <a:r>
              <a:rPr lang="en-US" altLang="zh-CN" sz="1400" dirty="0"/>
              <a:t>: str, </a:t>
            </a:r>
            <a:r>
              <a:rPr lang="en-US" altLang="zh-CN" sz="1400" dirty="0" err="1"/>
              <a:t>person_name</a:t>
            </a:r>
            <a:r>
              <a:rPr lang="en-US" altLang="zh-CN" sz="1400" dirty="0"/>
              <a:t>: str, </a:t>
            </a:r>
            <a:r>
              <a:rPr lang="en-US" altLang="zh-CN" sz="1400" dirty="0" err="1"/>
              <a:t>person_gender</a:t>
            </a:r>
            <a:r>
              <a:rPr lang="en-US" altLang="zh-CN" sz="1400" dirty="0"/>
              <a:t>: str, </a:t>
            </a:r>
            <a:r>
              <a:rPr lang="en-US" altLang="zh-CN" sz="1400" dirty="0" err="1"/>
              <a:t>person_age</a:t>
            </a:r>
            <a:r>
              <a:rPr lang="en-US" altLang="zh-CN" sz="1400" dirty="0"/>
              <a:t>: str):</a:t>
            </a:r>
          </a:p>
          <a:p>
            <a:pPr lvl="1"/>
            <a:r>
              <a:rPr lang="en-US" altLang="zh-CN" sz="1400" dirty="0"/>
              <a:t>        ……</a:t>
            </a:r>
          </a:p>
          <a:p>
            <a:pPr lvl="1"/>
            <a:r>
              <a:rPr lang="en-US" altLang="zh-CN" sz="1400" dirty="0"/>
              <a:t>@classmethod</a:t>
            </a:r>
          </a:p>
          <a:p>
            <a:pPr lvl="1"/>
            <a:r>
              <a:rPr lang="en-US" altLang="zh-CN" sz="1400" dirty="0"/>
              <a:t> def </a:t>
            </a:r>
            <a:r>
              <a:rPr lang="en-US" altLang="zh-CN" sz="1400" dirty="0" err="1"/>
              <a:t>get_fields</a:t>
            </a:r>
            <a:r>
              <a:rPr lang="en-US" altLang="zh-CN" sz="1400" dirty="0"/>
              <a:t>(</a:t>
            </a:r>
            <a:r>
              <a:rPr lang="en-US" altLang="zh-CN" sz="1400" dirty="0" err="1"/>
              <a:t>cls</a:t>
            </a:r>
            <a:r>
              <a:rPr lang="en-US" altLang="zh-CN" sz="1400" dirty="0"/>
              <a:t>) -&gt; List[Tuple[str, str]]:</a:t>
            </a:r>
          </a:p>
          <a:p>
            <a:pPr lvl="1"/>
            <a:r>
              <a:rPr lang="en-US" altLang="zh-CN" sz="1400" dirty="0"/>
              <a:t>   </a:t>
            </a:r>
            <a:r>
              <a:rPr lang="zh-CN" altLang="en-US" sz="1400" dirty="0"/>
              <a:t>     </a:t>
            </a:r>
            <a:r>
              <a:rPr lang="en-US" altLang="zh-CN" sz="1400" dirty="0"/>
              <a:t>"""</a:t>
            </a:r>
            <a:r>
              <a:rPr lang="zh-CN" altLang="en-US" sz="1400" dirty="0"/>
              <a:t>返回子类特有字段列表，基类返回空列表（模板方法）</a:t>
            </a:r>
            <a:r>
              <a:rPr lang="en-US" altLang="zh-CN" sz="1400" dirty="0"/>
              <a:t>"""</a:t>
            </a:r>
          </a:p>
          <a:p>
            <a:pPr lvl="1"/>
            <a:r>
              <a:rPr lang="en-US" altLang="zh-CN" sz="1400" dirty="0"/>
              <a:t> def </a:t>
            </a:r>
            <a:r>
              <a:rPr lang="en-US" altLang="zh-CN" sz="1400" dirty="0" err="1"/>
              <a:t>get_display_fields</a:t>
            </a:r>
            <a:r>
              <a:rPr lang="en-US" altLang="zh-CN" sz="1400" dirty="0"/>
              <a:t>(self, brief: bool = False) -&gt; list:</a:t>
            </a:r>
          </a:p>
          <a:p>
            <a:pPr lvl="1"/>
            <a:r>
              <a:rPr lang="en-US" altLang="zh-CN" sz="1400" dirty="0"/>
              <a:t>        """</a:t>
            </a:r>
            <a:r>
              <a:rPr lang="zh-CN" altLang="en-US" sz="1400" dirty="0"/>
              <a:t>返回用于展示的特有字段值</a:t>
            </a:r>
            <a:r>
              <a:rPr lang="en-US" altLang="zh-CN" sz="1400" dirty="0"/>
              <a:t>"""</a:t>
            </a:r>
          </a:p>
          <a:p>
            <a:pPr lvl="1"/>
            <a:r>
              <a:rPr lang="en-US" altLang="zh-CN" sz="1400" dirty="0"/>
              <a:t>@classmethod</a:t>
            </a:r>
          </a:p>
          <a:p>
            <a:pPr lvl="1"/>
            <a:r>
              <a:rPr lang="en-US" altLang="zh-CN" sz="1400" dirty="0"/>
              <a:t>def </a:t>
            </a:r>
            <a:r>
              <a:rPr lang="en-US" altLang="zh-CN" sz="1400" dirty="0" err="1"/>
              <a:t>from_dict</a:t>
            </a:r>
            <a:r>
              <a:rPr lang="en-US" altLang="zh-CN" sz="1400" dirty="0"/>
              <a:t>(</a:t>
            </a:r>
            <a:r>
              <a:rPr lang="en-US" altLang="zh-CN" sz="1400" dirty="0" err="1"/>
              <a:t>cls</a:t>
            </a:r>
            <a:r>
              <a:rPr lang="en-US" altLang="zh-CN" sz="1400" dirty="0"/>
              <a:t>, d: </a:t>
            </a:r>
            <a:r>
              <a:rPr lang="en-US" altLang="zh-CN" sz="1400" dirty="0" err="1"/>
              <a:t>dict</a:t>
            </a:r>
            <a:r>
              <a:rPr lang="en-US" altLang="zh-CN" sz="1400" dirty="0"/>
              <a:t>) -&gt; '</a:t>
            </a:r>
            <a:r>
              <a:rPr lang="en-US" altLang="zh-CN" sz="1400" dirty="0" err="1"/>
              <a:t>BaseClass</a:t>
            </a:r>
            <a:r>
              <a:rPr lang="en-US" altLang="zh-CN" sz="1400" dirty="0"/>
              <a:t>’:</a:t>
            </a:r>
          </a:p>
          <a:p>
            <a:pPr lvl="1"/>
            <a:r>
              <a:rPr lang="en-US" altLang="zh-CN" sz="1400" dirty="0"/>
              <a:t>"""</a:t>
            </a:r>
            <a:r>
              <a:rPr lang="zh-CN" altLang="en-US" sz="1400" dirty="0"/>
              <a:t>从字典反序列化</a:t>
            </a:r>
            <a:r>
              <a:rPr lang="en-US" altLang="zh-CN" sz="1400" dirty="0"/>
              <a:t>"""</a:t>
            </a:r>
          </a:p>
          <a:p>
            <a:pPr lvl="1"/>
            <a:r>
              <a:rPr lang="en-US" altLang="zh-CN" sz="1400" dirty="0"/>
              <a:t>def </a:t>
            </a:r>
            <a:r>
              <a:rPr lang="en-US" altLang="zh-CN" sz="1400" dirty="0" err="1"/>
              <a:t>to_dict</a:t>
            </a:r>
            <a:r>
              <a:rPr lang="en-US" altLang="zh-CN" sz="1400" dirty="0"/>
              <a:t>(self) -&gt; </a:t>
            </a:r>
            <a:r>
              <a:rPr lang="en-US" altLang="zh-CN" sz="1400" dirty="0" err="1"/>
              <a:t>dict</a:t>
            </a:r>
            <a:r>
              <a:rPr lang="en-US" altLang="zh-CN" sz="1400" dirty="0"/>
              <a:t>:</a:t>
            </a:r>
          </a:p>
          <a:p>
            <a:pPr lvl="1"/>
            <a:r>
              <a:rPr lang="en-US" altLang="zh-CN" sz="1400" dirty="0"/>
              <a:t>"""</a:t>
            </a:r>
            <a:r>
              <a:rPr lang="zh-CN" altLang="en-US" sz="1400" dirty="0"/>
              <a:t>序列化为字典</a:t>
            </a:r>
            <a:r>
              <a:rPr lang="en-US" altLang="zh-CN" sz="1400" dirty="0"/>
              <a:t>"""</a:t>
            </a:r>
            <a:br>
              <a:rPr lang="en-US" altLang="zh-CN" sz="1400" dirty="0"/>
            </a:br>
            <a:endParaRPr lang="en-US" altLang="zh-CN" sz="1400" dirty="0"/>
          </a:p>
          <a:p>
            <a:endParaRPr lang="en-US" altLang="zh-CN" dirty="0"/>
          </a:p>
          <a:p>
            <a:r>
              <a:rPr lang="en-US" altLang="zh-CN" sz="1400" dirty="0"/>
              <a:t>  </a:t>
            </a:r>
          </a:p>
          <a:p>
            <a:endParaRPr lang="en-US" altLang="zh-CN" sz="1400" dirty="0"/>
          </a:p>
        </p:txBody>
      </p:sp>
    </p:spTree>
    <p:extLst>
      <p:ext uri="{BB962C8B-B14F-4D97-AF65-F5344CB8AC3E}">
        <p14:creationId xmlns:p14="http://schemas.microsoft.com/office/powerpoint/2010/main" val="100487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28D70-5896-7DBB-0F6D-870400997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E7A4EBE-6CC4-8393-6C8F-6079002F7C6A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840ECAC-2366-71B2-289A-AC441AC98E59}"/>
              </a:ext>
            </a:extLst>
          </p:cNvPr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技术亮点</a:t>
            </a:r>
            <a:endParaRPr lang="en-US" sz="2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30B2B1A-EA33-9B93-3500-84CB28922CE5}"/>
              </a:ext>
            </a:extLst>
          </p:cNvPr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CAEC1DC-B3AC-2DD4-7D26-D3B9173AFBD2}"/>
              </a:ext>
            </a:extLst>
          </p:cNvPr>
          <p:cNvGrpSpPr/>
          <p:nvPr/>
        </p:nvGrpSpPr>
        <p:grpSpPr>
          <a:xfrm>
            <a:off x="2766060" y="1435608"/>
            <a:ext cx="2697480" cy="3200400"/>
            <a:chOff x="3149909" y="1371600"/>
            <a:chExt cx="2697480" cy="3200400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BA6EC37D-AD94-EDB6-B9FF-D246DFEEF46E}"/>
                </a:ext>
              </a:extLst>
            </p:cNvPr>
            <p:cNvSpPr/>
            <p:nvPr/>
          </p:nvSpPr>
          <p:spPr>
            <a:xfrm>
              <a:off x="3149909" y="1371600"/>
              <a:ext cx="2697480" cy="32004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2E8F0"/>
              </a:solidFill>
              <a:prstDash val="solid"/>
            </a:ln>
          </p:spPr>
        </p:sp>
        <p:sp>
          <p:nvSpPr>
            <p:cNvPr id="15" name="Shape 13">
              <a:extLst>
                <a:ext uri="{FF2B5EF4-FFF2-40B4-BE49-F238E27FC236}">
                  <a16:creationId xmlns:a16="http://schemas.microsoft.com/office/drawing/2014/main" id="{BB32E4B3-0447-BE0F-98C1-51C54034394F}"/>
                </a:ext>
              </a:extLst>
            </p:cNvPr>
            <p:cNvSpPr/>
            <p:nvPr/>
          </p:nvSpPr>
          <p:spPr>
            <a:xfrm>
              <a:off x="3149909" y="1371600"/>
              <a:ext cx="54864" cy="3200400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</p:sp>
        <p:sp>
          <p:nvSpPr>
            <p:cNvPr id="16" name="Text 14">
              <a:extLst>
                <a:ext uri="{FF2B5EF4-FFF2-40B4-BE49-F238E27FC236}">
                  <a16:creationId xmlns:a16="http://schemas.microsoft.com/office/drawing/2014/main" id="{48D39B0C-4F7C-634B-3D33-1DFAFF88439C}"/>
                </a:ext>
              </a:extLst>
            </p:cNvPr>
            <p:cNvSpPr/>
            <p:nvPr/>
          </p:nvSpPr>
          <p:spPr>
            <a:xfrm>
              <a:off x="3332789" y="1508760"/>
              <a:ext cx="2423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CN" altLang="en-US" sz="1800" b="1" dirty="0">
                  <a:solidFill>
                    <a:srgbClr val="1E3A5F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防御性功能</a:t>
              </a:r>
              <a:endParaRPr lang="en-US" sz="1800" dirty="0"/>
            </a:p>
          </p:txBody>
        </p:sp>
        <p:sp>
          <p:nvSpPr>
            <p:cNvPr id="17" name="Text 15">
              <a:extLst>
                <a:ext uri="{FF2B5EF4-FFF2-40B4-BE49-F238E27FC236}">
                  <a16:creationId xmlns:a16="http://schemas.microsoft.com/office/drawing/2014/main" id="{2C59DDA0-B782-EB92-E73E-2D505B98E105}"/>
                </a:ext>
              </a:extLst>
            </p:cNvPr>
            <p:cNvSpPr/>
            <p:nvPr/>
          </p:nvSpPr>
          <p:spPr>
            <a:xfrm>
              <a:off x="3332789" y="1920240"/>
              <a:ext cx="2377440" cy="2560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加载时按编号去重（保留首条）</a:t>
              </a:r>
              <a:endParaRPr lang="en-US" sz="130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查询结果按编号去重</a:t>
              </a:r>
              <a:endParaRPr lang="en-US" sz="1300" dirty="0"/>
            </a:p>
            <a:p>
              <a:pPr marL="342900" indent="-342900">
                <a:spcAft>
                  <a:spcPts val="600"/>
                </a:spcAft>
                <a:buSzPct val="100000"/>
                <a:buChar char="•"/>
              </a:pPr>
              <a:r>
                <a:rPr 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双</a:t>
              </a:r>
              <a:r>
                <a:rPr lang="zh-CN" alt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重</a:t>
              </a:r>
              <a:r>
                <a:rPr lang="en-US" sz="1300" dirty="0" err="1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防护，避免</a:t>
              </a:r>
              <a:r>
                <a:rPr lang="zh-CN" altLang="en-US" sz="1300" dirty="0">
                  <a:solidFill>
                    <a:srgbClr val="1E293B"/>
                  </a:solidFill>
                  <a:latin typeface="微软雅黑" pitchFamily="34" charset="0"/>
                  <a:ea typeface="微软雅黑" pitchFamily="34" charset="-122"/>
                  <a:cs typeface="微软雅黑" pitchFamily="34" charset="-120"/>
                </a:rPr>
                <a:t>数据污染</a:t>
              </a:r>
              <a:endParaRPr lang="en-US" sz="13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60085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DA47E-3FC6-7390-53F2-D4BE023E2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FA31DED-22EE-04CD-6A70-7940C5812BA0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B25523-AE3E-26F0-027B-326B9B1A7A84}"/>
              </a:ext>
            </a:extLst>
          </p:cNvPr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zh-CN" altLang="en-US" sz="2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开发记录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BA8DF34-6BE6-081E-B00B-B1E60D1D5ED8}"/>
              </a:ext>
            </a:extLst>
          </p:cNvPr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</a:rPr>
              <a:t>51+44</a:t>
            </a:r>
            <a:r>
              <a:rPr lang="zh-CN" alt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</a:rPr>
              <a:t>次</a:t>
            </a:r>
            <a:r>
              <a:rPr lang="en-US" altLang="zh-CN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</a:rPr>
              <a:t>commit</a:t>
            </a:r>
            <a:r>
              <a:rPr lang="zh-CN" alt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</a:rPr>
              <a:t>，</a:t>
            </a:r>
            <a:r>
              <a:rPr lang="en-US" altLang="zh-CN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</a:rPr>
              <a:t>3</a:t>
            </a:r>
            <a:r>
              <a:rPr lang="zh-CN" alt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</a:rPr>
              <a:t>个重要转折点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4D67A516-0CB3-7F41-344D-4DC53808227A}"/>
              </a:ext>
            </a:extLst>
          </p:cNvPr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9" name="图片 8" descr="徽标&#10;&#10;AI 生成的内容可能不正确。">
            <a:extLst>
              <a:ext uri="{FF2B5EF4-FFF2-40B4-BE49-F238E27FC236}">
                <a16:creationId xmlns:a16="http://schemas.microsoft.com/office/drawing/2014/main" id="{5C172733-E1FF-8F22-C002-750779F0B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03" y="1239513"/>
            <a:ext cx="1427708" cy="52661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32CCCBA-C373-6168-8277-EEB2B46B8548}"/>
              </a:ext>
            </a:extLst>
          </p:cNvPr>
          <p:cNvSpPr txBox="1"/>
          <p:nvPr/>
        </p:nvSpPr>
        <p:spPr>
          <a:xfrm>
            <a:off x="3793554" y="1773413"/>
            <a:ext cx="5220504" cy="2247424"/>
          </a:xfrm>
          <a:prstGeom prst="roundRect">
            <a:avLst/>
          </a:prstGeom>
          <a:solidFill>
            <a:schemeClr val="bg2">
              <a:lumMod val="25000"/>
            </a:schemeClr>
          </a:solidFill>
          <a:ln w="7620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chemeClr val="bg1"/>
                </a:solidFill>
              </a:rPr>
              <a:t>7/7  项目奠基    三层架构 + 四大类模型</a:t>
            </a:r>
          </a:p>
          <a:p>
            <a:r>
              <a:rPr lang="zh-CN" altLang="en-US" sz="1400" dirty="0">
                <a:solidFill>
                  <a:schemeClr val="bg1"/>
                </a:solidFill>
              </a:rPr>
              <a:t>7/8  CRUD 完成   ⚠️踩坑 MRO → 改用直接调用 BaseClass.__init__</a:t>
            </a:r>
          </a:p>
          <a:p>
            <a:r>
              <a:rPr lang="zh-CN" altLang="en-US" sz="1400" dirty="0">
                <a:solidFill>
                  <a:schemeClr val="bg1"/>
                </a:solidFill>
              </a:rPr>
              <a:t>7/9  UI 初探     多态 get_fields,输入校验模块化</a:t>
            </a:r>
          </a:p>
          <a:p>
            <a:r>
              <a:rPr lang="zh-CN" altLang="en-US" sz="1400" dirty="0">
                <a:solidFill>
                  <a:schemeClr val="bg1"/>
                </a:solidFill>
              </a:rPr>
              <a:t>7/10 重构转折    筛选器抽象 + 模块化拆分 ← 全项目关键转折</a:t>
            </a:r>
          </a:p>
          <a:p>
            <a:r>
              <a:rPr lang="zh-CN" altLang="en-US" sz="1400" dirty="0">
                <a:solidFill>
                  <a:schemeClr val="bg1"/>
                </a:solidFill>
              </a:rPr>
              <a:t>7/11 规范化      docstring + 统一命名</a:t>
            </a:r>
          </a:p>
          <a:p>
            <a:r>
              <a:rPr lang="zh-CN" altLang="en-US" sz="1400" dirty="0">
                <a:solidFill>
                  <a:schemeClr val="bg1"/>
                </a:solidFill>
              </a:rPr>
              <a:t>7/12 功能扩展    CSV 导入导出 + TUI 起步</a:t>
            </a:r>
          </a:p>
          <a:p>
            <a:r>
              <a:rPr lang="zh-CN" altLang="en-US" sz="1400" dirty="0">
                <a:solidFill>
                  <a:schemeClr val="bg1"/>
                </a:solidFill>
              </a:rPr>
              <a:t>7/13 TUI 完善    列表页/详情页/弹窗 + 表单基类复用</a:t>
            </a:r>
          </a:p>
          <a:p>
            <a:r>
              <a:rPr lang="zh-CN" altLang="en-US" sz="1400" dirty="0">
                <a:solidFill>
                  <a:schemeClr val="bg1"/>
                </a:solidFill>
              </a:rPr>
              <a:t>7/14 收尾优化    ⚠️数据污染 → 双端防御性去重 + 最终微调</a:t>
            </a:r>
          </a:p>
        </p:txBody>
      </p:sp>
      <p:pic>
        <p:nvPicPr>
          <p:cNvPr id="21" name="图片 20" descr="图形用户界面, 徽标&#10;&#10;AI 生成的内容可能不正确。">
            <a:extLst>
              <a:ext uri="{FF2B5EF4-FFF2-40B4-BE49-F238E27FC236}">
                <a16:creationId xmlns:a16="http://schemas.microsoft.com/office/drawing/2014/main" id="{966EF8D7-A5F5-512F-448E-164C210A2B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4618" y="1334845"/>
            <a:ext cx="1687109" cy="492073"/>
          </a:xfrm>
          <a:prstGeom prst="rect">
            <a:avLst/>
          </a:prstGeom>
        </p:spPr>
      </p:pic>
      <p:pic>
        <p:nvPicPr>
          <p:cNvPr id="23" name="图片 22" descr="图片包含 游戏机, 电池&#10;&#10;AI 生成的内容可能不正确。">
            <a:extLst>
              <a:ext uri="{FF2B5EF4-FFF2-40B4-BE49-F238E27FC236}">
                <a16:creationId xmlns:a16="http://schemas.microsoft.com/office/drawing/2014/main" id="{29046E0E-A5CA-2AC8-FEFA-6420628515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35" y="1172175"/>
            <a:ext cx="3037966" cy="1081942"/>
          </a:xfrm>
          <a:prstGeom prst="rect">
            <a:avLst/>
          </a:prstGeom>
        </p:spPr>
      </p:pic>
      <p:pic>
        <p:nvPicPr>
          <p:cNvPr id="25" name="图片 24" descr="图片包含 游戏机&#10;&#10;AI 生成的内容可能不正确。">
            <a:extLst>
              <a:ext uri="{FF2B5EF4-FFF2-40B4-BE49-F238E27FC236}">
                <a16:creationId xmlns:a16="http://schemas.microsoft.com/office/drawing/2014/main" id="{652CE931-C736-1DF0-B530-5E1C1D3A46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542" y="2473394"/>
            <a:ext cx="3195200" cy="1092031"/>
          </a:xfrm>
          <a:prstGeom prst="rect">
            <a:avLst/>
          </a:prstGeom>
        </p:spPr>
      </p:pic>
      <p:pic>
        <p:nvPicPr>
          <p:cNvPr id="27" name="图片 26" descr="图片包含 QR 代码&#10;&#10;AI 生成的内容可能不正确。">
            <a:extLst>
              <a:ext uri="{FF2B5EF4-FFF2-40B4-BE49-F238E27FC236}">
                <a16:creationId xmlns:a16="http://schemas.microsoft.com/office/drawing/2014/main" id="{B2779C6E-FF4E-A1D6-F19F-5C53A334F0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542" y="3661125"/>
            <a:ext cx="2933815" cy="141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7316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3">
            <a:extLst>
              <a:ext uri="{FF2B5EF4-FFF2-40B4-BE49-F238E27FC236}">
                <a16:creationId xmlns:a16="http://schemas.microsoft.com/office/drawing/2014/main" id="{369F5D3D-2811-9A89-D3CD-5B0268D15A9A}"/>
              </a:ext>
            </a:extLst>
          </p:cNvPr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685800" y="37719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rPr sz="2400" dirty="0" err="1"/>
              <a:t>多重继承设计TeacherAdmin</a:t>
            </a:r>
            <a:r>
              <a:rPr lang="zh-CN" altLang="en-US" sz="2400" dirty="0"/>
              <a:t>出现的问题</a:t>
            </a:r>
            <a:endParaRPr sz="2400" dirty="0"/>
          </a:p>
        </p:txBody>
      </p:sp>
      <p:sp>
        <p:nvSpPr>
          <p:cNvPr id="5" name="Rounded Rectangle 4"/>
          <p:cNvSpPr/>
          <p:nvPr/>
        </p:nvSpPr>
        <p:spPr>
          <a:xfrm>
            <a:off x="685800" y="1508760"/>
            <a:ext cx="3771900" cy="1508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891540" y="1611631"/>
            <a:ext cx="33604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C3535"/>
                </a:solidFill>
                <a:latin typeface="Microsoft YaHei"/>
              </a:defRPr>
            </a:pPr>
            <a:r>
              <a:rPr sz="1200"/>
              <a:t>问题：MRO 菱形继承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" y="1954531"/>
            <a:ext cx="3360420" cy="1047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TeacherAdmin</a:t>
            </a:r>
            <a:r>
              <a:rPr sz="975" dirty="0"/>
              <a:t> → Teacher → </a:t>
            </a:r>
            <a:r>
              <a:rPr sz="975" dirty="0" err="1"/>
              <a:t>BaseClass</a:t>
            </a:r>
            <a:endParaRPr sz="975" dirty="0"/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TeacherAdmin</a:t>
            </a:r>
            <a:r>
              <a:rPr sz="975" dirty="0"/>
              <a:t> → Admin → </a:t>
            </a:r>
            <a:r>
              <a:rPr sz="975" dirty="0" err="1"/>
              <a:t>BaseClass</a:t>
            </a:r>
            <a:endParaRPr sz="975" dirty="0"/>
          </a:p>
          <a:p>
            <a:pPr>
              <a:spcAft>
                <a:spcPts val="390"/>
              </a:spcAft>
              <a:defRPr sz="1300" b="0">
                <a:solidFill>
                  <a:srgbClr val="DC3535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BaseClass</a:t>
            </a:r>
            <a:r>
              <a:rPr sz="975" dirty="0"/>
              <a:t>.__</a:t>
            </a:r>
            <a:r>
              <a:rPr sz="975" dirty="0" err="1"/>
              <a:t>init</a:t>
            </a:r>
            <a:r>
              <a:rPr sz="975" dirty="0"/>
              <a:t>__ </a:t>
            </a:r>
            <a:r>
              <a:rPr sz="975" dirty="0" err="1"/>
              <a:t>会被调用两次</a:t>
            </a:r>
            <a:endParaRPr sz="975" dirty="0"/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Python MRO </a:t>
            </a:r>
            <a:r>
              <a:rPr sz="975" dirty="0" err="1"/>
              <a:t>虽保证方法查找顺序</a:t>
            </a:r>
            <a:endParaRPr sz="975" dirty="0"/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  但 __</a:t>
            </a:r>
            <a:r>
              <a:rPr sz="975" dirty="0" err="1"/>
              <a:t>init</a:t>
            </a:r>
            <a:r>
              <a:rPr sz="975" dirty="0"/>
              <a:t>__ </a:t>
            </a:r>
            <a:r>
              <a:rPr sz="975" dirty="0" err="1"/>
              <a:t>链式调用仍会产生冲突</a:t>
            </a:r>
            <a:endParaRPr sz="975" dirty="0"/>
          </a:p>
        </p:txBody>
      </p:sp>
      <p:sp>
        <p:nvSpPr>
          <p:cNvPr id="8" name="Rounded Rectangle 7"/>
          <p:cNvSpPr/>
          <p:nvPr/>
        </p:nvSpPr>
        <p:spPr>
          <a:xfrm>
            <a:off x="4800600" y="1508760"/>
            <a:ext cx="3634740" cy="1508760"/>
          </a:xfrm>
          <a:prstGeom prst="round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9" name="TextBox 8"/>
          <p:cNvSpPr txBox="1"/>
          <p:nvPr/>
        </p:nvSpPr>
        <p:spPr>
          <a:xfrm>
            <a:off x="5006340" y="1611631"/>
            <a:ext cx="32232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3C"/>
                </a:solidFill>
                <a:latin typeface="Microsoft YaHei"/>
              </a:defRPr>
            </a:pPr>
            <a:r>
              <a:rPr sz="1200"/>
              <a:t>解决：直接调用 BaseClass.__init__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06340" y="2090169"/>
            <a:ext cx="3223260" cy="443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不用</a:t>
            </a:r>
            <a:r>
              <a:rPr sz="975" dirty="0"/>
              <a:t> super()，</a:t>
            </a:r>
            <a:r>
              <a:rPr sz="975" dirty="0" err="1"/>
              <a:t>手动调用</a:t>
            </a:r>
            <a:r>
              <a:rPr sz="975" dirty="0"/>
              <a:t> </a:t>
            </a:r>
            <a:r>
              <a:rPr sz="975" dirty="0" err="1"/>
              <a:t>BaseClass</a:t>
            </a:r>
            <a:r>
              <a:rPr sz="975" dirty="0"/>
              <a:t>.__</a:t>
            </a:r>
            <a:r>
              <a:rPr sz="975" dirty="0" err="1"/>
              <a:t>init</a:t>
            </a:r>
            <a:r>
              <a:rPr sz="975" dirty="0"/>
              <a:t>__()</a:t>
            </a:r>
          </a:p>
          <a:p>
            <a:pPr>
              <a:spcAft>
                <a:spcPts val="390"/>
              </a:spcAft>
              <a:defRPr sz="1300" b="0">
                <a:solidFill>
                  <a:srgbClr val="1A1A2E"/>
                </a:solidFill>
                <a:latin typeface="Microsoft YaHei"/>
              </a:defRPr>
            </a:pPr>
            <a:r>
              <a:rPr sz="975" dirty="0"/>
              <a:t>● </a:t>
            </a:r>
            <a:r>
              <a:rPr sz="975" dirty="0" err="1"/>
              <a:t>避免调用链混乱</a:t>
            </a:r>
            <a:endParaRPr sz="975" dirty="0"/>
          </a:p>
        </p:txBody>
      </p:sp>
      <p:sp>
        <p:nvSpPr>
          <p:cNvPr id="11" name="Rounded Rectangle 10"/>
          <p:cNvSpPr/>
          <p:nvPr/>
        </p:nvSpPr>
        <p:spPr>
          <a:xfrm>
            <a:off x="685800" y="3291840"/>
            <a:ext cx="7749540" cy="18516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12" name="TextBox 11"/>
          <p:cNvSpPr txBox="1"/>
          <p:nvPr/>
        </p:nvSpPr>
        <p:spPr>
          <a:xfrm>
            <a:off x="891540" y="3429000"/>
            <a:ext cx="7338060" cy="16962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000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en-US" altLang="zh-CN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en-US" altLang="zh-CN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0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person_id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000" dirty="0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person_name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000" dirty="0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person_gender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000" dirty="0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person_age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000" dirty="0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</a:t>
            </a:r>
            <a:r>
              <a:rPr lang="en-US" altLang="zh-CN" sz="1000" dirty="0">
                <a:solidFill>
                  <a:srgbClr val="9CDCFE"/>
                </a:solidFill>
                <a:latin typeface="Consolas" panose="020B0609020204030204" pitchFamily="49" charset="0"/>
              </a:rPr>
              <a:t>department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000" dirty="0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000" dirty="0">
                <a:solidFill>
                  <a:srgbClr val="9CDCFE"/>
                </a:solidFill>
                <a:latin typeface="Consolas" panose="020B0609020204030204" pitchFamily="49" charset="0"/>
              </a:rPr>
              <a:t>major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000" dirty="0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professional_title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000" dirty="0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 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political_affiliation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: </a:t>
            </a:r>
            <a:r>
              <a:rPr lang="en-US" altLang="zh-CN" sz="1000" dirty="0">
                <a:solidFill>
                  <a:srgbClr val="4EC9B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000" dirty="0">
                <a:solidFill>
                  <a:srgbClr val="6A9955"/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1000" dirty="0">
                <a:solidFill>
                  <a:srgbClr val="6A9955"/>
                </a:solidFill>
                <a:latin typeface="Consolas" panose="020B0609020204030204" pitchFamily="49" charset="0"/>
              </a:rPr>
              <a:t>直接调用基类构造函数，避免多重继承的 </a:t>
            </a:r>
            <a:r>
              <a:rPr lang="en-US" altLang="zh-CN" sz="1000" dirty="0">
                <a:solidFill>
                  <a:srgbClr val="6A9955"/>
                </a:solidFill>
                <a:latin typeface="Consolas" panose="020B0609020204030204" pitchFamily="49" charset="0"/>
              </a:rPr>
              <a:t>MRO </a:t>
            </a:r>
            <a:r>
              <a:rPr lang="zh-CN" altLang="en-US" sz="1000" dirty="0">
                <a:solidFill>
                  <a:srgbClr val="6A9955"/>
                </a:solidFill>
                <a:latin typeface="Consolas" panose="020B0609020204030204" pitchFamily="49" charset="0"/>
              </a:rPr>
              <a:t>问题</a:t>
            </a:r>
            <a:endParaRPr lang="zh-CN" altLang="en-US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zh-CN" altLang="en-US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000" dirty="0" err="1">
                <a:solidFill>
                  <a:srgbClr val="4EC9B0"/>
                </a:solidFill>
                <a:latin typeface="Consolas" panose="020B0609020204030204" pitchFamily="49" charset="0"/>
              </a:rPr>
              <a:t>BaseClass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en-US" altLang="zh-CN" sz="1000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en-US" altLang="zh-CN" sz="1000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0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person_id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person_name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person_gender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person_age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_department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Consolas" panose="020B0609020204030204" pitchFamily="49" charset="0"/>
              </a:rPr>
              <a:t>department</a:t>
            </a:r>
            <a:endParaRPr lang="en-US" altLang="zh-CN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0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_major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>
                <a:solidFill>
                  <a:srgbClr val="9CDCFE"/>
                </a:solidFill>
                <a:latin typeface="Consolas" panose="020B0609020204030204" pitchFamily="49" charset="0"/>
              </a:rPr>
              <a:t>major</a:t>
            </a:r>
            <a:endParaRPr lang="en-US" altLang="zh-CN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0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0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professional_title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professional_title</a:t>
            </a:r>
            <a:endParaRPr lang="en-US" altLang="zh-CN" sz="10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zh-CN" sz="1000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000" dirty="0">
                <a:solidFill>
                  <a:srgbClr val="9CDCFE"/>
                </a:solidFill>
                <a:latin typeface="Consolas" panose="020B0609020204030204" pitchFamily="49" charset="0"/>
              </a:rPr>
              <a:t>_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political_affiliation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0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000" dirty="0" err="1">
                <a:solidFill>
                  <a:srgbClr val="9CDCFE"/>
                </a:solidFill>
                <a:latin typeface="Consolas" panose="020B0609020204030204" pitchFamily="49" charset="0"/>
              </a:rPr>
              <a:t>political_affiliation</a:t>
            </a:r>
            <a:endParaRPr lang="en-US" altLang="zh-CN" sz="1000" dirty="0">
              <a:solidFill>
                <a:srgbClr val="CCCCCC"/>
              </a:solidFill>
              <a:latin typeface="Consolas" panose="020B06090202040302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7412AC-D389-6B6E-56F0-94A323490017}"/>
              </a:ext>
            </a:extLst>
          </p:cNvPr>
          <p:cNvSpPr txBox="1"/>
          <p:nvPr/>
        </p:nvSpPr>
        <p:spPr>
          <a:xfrm>
            <a:off x="1660299" y="930902"/>
            <a:ext cx="559480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MRO</a:t>
            </a:r>
            <a:r>
              <a:rPr lang="zh-CN" altLang="en-US" dirty="0"/>
              <a:t>链：</a:t>
            </a:r>
            <a:r>
              <a:rPr lang="en-US" altLang="zh-CN" dirty="0" err="1"/>
              <a:t>TeacherAdmin</a:t>
            </a:r>
            <a:r>
              <a:rPr lang="en-US" altLang="zh-CN" dirty="0"/>
              <a:t> -&gt; Teacher -&gt; Admin -&gt; </a:t>
            </a:r>
            <a:r>
              <a:rPr lang="en-US" altLang="zh-CN" dirty="0" err="1"/>
              <a:t>BaseClass</a:t>
            </a:r>
            <a:endParaRPr lang="zh-CN" altLang="en-US" dirty="0"/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8ADCB21A-DAC3-ECEE-E384-F237487E78FC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D4FC4-746A-A1D0-64A6-22F614358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3">
            <a:extLst>
              <a:ext uri="{FF2B5EF4-FFF2-40B4-BE49-F238E27FC236}">
                <a16:creationId xmlns:a16="http://schemas.microsoft.com/office/drawing/2014/main" id="{5DEC791F-6D5C-0A18-ABD0-3AE90D35AC6F}"/>
              </a:ext>
            </a:extLst>
          </p:cNvPr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F6D943-A049-28D2-3845-B7B84BE5920F}"/>
              </a:ext>
            </a:extLst>
          </p:cNvPr>
          <p:cNvSpPr txBox="1"/>
          <p:nvPr/>
        </p:nvSpPr>
        <p:spPr>
          <a:xfrm>
            <a:off x="685800" y="377190"/>
            <a:ext cx="6858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A1A2E"/>
                </a:solidFill>
                <a:latin typeface="Microsoft YaHei"/>
              </a:defRPr>
            </a:pPr>
            <a:r>
              <a:rPr lang="zh-CN" altLang="en-US" sz="2400" b="1" dirty="0">
                <a:solidFill>
                  <a:srgbClr val="1A1A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设计过程中的思考</a:t>
            </a:r>
            <a:endParaRPr sz="2400" b="1" dirty="0">
              <a:solidFill>
                <a:srgbClr val="1A1A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Shape 0">
            <a:extLst>
              <a:ext uri="{FF2B5EF4-FFF2-40B4-BE49-F238E27FC236}">
                <a16:creationId xmlns:a16="http://schemas.microsoft.com/office/drawing/2014/main" id="{708622CF-811C-DF76-4FBD-A98D5B6A04A9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61EF1E8-730A-F36F-643E-F03F48626E1F}"/>
              </a:ext>
            </a:extLst>
          </p:cNvPr>
          <p:cNvSpPr txBox="1"/>
          <p:nvPr/>
        </p:nvSpPr>
        <p:spPr>
          <a:xfrm>
            <a:off x="789270" y="1268230"/>
            <a:ext cx="51110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使用者在删，查，改的过程中，如果仅仅对着一个空荡的页面，会增加使用难度    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——&gt; 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将原本用于查询的前缀匹配独立成为筛选模块，配合显示模块在删查改的页面持续显示，为使用者提供帮助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C0BD04F-A6E1-4AC2-468A-A435C22A3FC7}"/>
              </a:ext>
            </a:extLst>
          </p:cNvPr>
          <p:cNvSpPr txBox="1"/>
          <p:nvPr/>
        </p:nvSpPr>
        <p:spPr>
          <a:xfrm>
            <a:off x="789269" y="2544984"/>
            <a:ext cx="51110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界面经常会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Ctrl+C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退出程序，但是程序会显示为异常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——&gt;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直接捕捉异常，调用返回上级菜单模块，使得操作更加便捷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BF31786-90ED-0F49-52A9-4131A9E3E932}"/>
              </a:ext>
            </a:extLst>
          </p:cNvPr>
          <p:cNvSpPr txBox="1"/>
          <p:nvPr/>
        </p:nvSpPr>
        <p:spPr>
          <a:xfrm>
            <a:off x="685800" y="3823539"/>
            <a:ext cx="51110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编码中出现了大量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if-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elif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-else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，在菜单和列表输出尤为严重，并且其余部分出现了多次逻辑几乎完全一致的代码 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——&gt; 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把高度重复的逻辑部分抽象为子方法，编写多态逻辑，在后续拓展开发中高度复用，如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TUI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界面的开发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8916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总结与反思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收获 · 不足 · 展望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54864" cy="3291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08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收获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深入理解</a:t>
            </a:r>
            <a:r>
              <a:rPr lang="en-US" altLang="zh-CN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OOP</a:t>
            </a:r>
            <a:r>
              <a:rPr lang="en-US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四大特性的实际应用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学习如何维护代码，如何进行模块化，如何版本管理</a:t>
            </a:r>
            <a:endParaRPr lang="en-US" sz="1300" dirty="0">
              <a:solidFill>
                <a:srgbClr val="1E29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学习了</a:t>
            </a:r>
            <a:r>
              <a:rPr lang="zh-CN" alt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完整项目</a:t>
            </a:r>
            <a:r>
              <a:rPr lang="en-US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的设计思想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锻炼了独立分析和解决问题的能力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37160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371600"/>
            <a:ext cx="54864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508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不足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回避了多继承问题，可拓展性低</a:t>
            </a:r>
            <a:endParaRPr lang="en-US" sz="1300" dirty="0">
              <a:solidFill>
                <a:srgbClr val="1E29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</a:t>
            </a:r>
            <a:r>
              <a:rPr lang="en-US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文件存储，大数据量性能有限</a:t>
            </a:r>
            <a:r>
              <a:rPr lang="zh-CN" alt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，自动保存下单次操作无法避免读</a:t>
            </a:r>
            <a:r>
              <a:rPr lang="en-US" altLang="zh-CN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</a:t>
            </a:r>
            <a:r>
              <a:rPr lang="zh-CN" alt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</a:t>
            </a:r>
            <a:r>
              <a:rPr lang="en-US" altLang="zh-CN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</a:t>
            </a:r>
            <a:r>
              <a:rPr lang="zh-CN" alt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存的流程，没有算法优化的空间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缺少权限管理和操作日志</a:t>
            </a:r>
            <a:endParaRPr lang="en-US" sz="1300" dirty="0">
              <a:solidFill>
                <a:srgbClr val="1E293B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CN" alt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</a:rPr>
              <a:t>缺少</a:t>
            </a:r>
            <a:r>
              <a:rPr lang="en-US" altLang="zh-CN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</a:rPr>
              <a:t>ABC</a:t>
            </a:r>
            <a:r>
              <a:rPr lang="zh-CN" alt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</a:rPr>
              <a:t>的类规范管理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单元测试不足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26480" y="1371600"/>
            <a:ext cx="54864" cy="32918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5087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3A5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改进方向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3774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迁移到数据库</a:t>
            </a: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(MySQ</a:t>
            </a:r>
            <a:r>
              <a:rPr lang="en-US" altLang="zh-CN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增加数据可视化图表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开发 Web 界面，支持多用户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1645920"/>
            <a:ext cx="109728" cy="1828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感谢各位老师！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 err="1">
                <a:solidFill>
                  <a:srgbClr val="DBEAF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敬请批评指正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1281</Words>
  <Application>Microsoft Office PowerPoint</Application>
  <PresentationFormat>全屏显示(16:9)</PresentationFormat>
  <Paragraphs>192</Paragraphs>
  <Slides>18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微软雅黑</vt:lpstr>
      <vt:lpstr>微软雅黑</vt:lpstr>
      <vt:lpstr>Arial</vt:lpstr>
      <vt:lpstr>Consolas</vt:lpstr>
      <vt:lpstr>Office Theme</vt:lpstr>
      <vt:lpstr>包装程序外壳对象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高校人员信息管理系统-答辩</dc:title>
  <dc:subject>PptxGenJS Presentation</dc:subject>
  <dc:creator>课程设计</dc:creator>
  <cp:lastModifiedBy>弥 夏</cp:lastModifiedBy>
  <cp:revision>85</cp:revision>
  <dcterms:created xsi:type="dcterms:W3CDTF">2026-07-14T13:10:16Z</dcterms:created>
  <dcterms:modified xsi:type="dcterms:W3CDTF">2026-07-15T14:10:16Z</dcterms:modified>
</cp:coreProperties>
</file>